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89" r:id="rId22"/>
    <p:sldId id="277" r:id="rId23"/>
    <p:sldId id="278" r:id="rId24"/>
    <p:sldId id="290" r:id="rId25"/>
    <p:sldId id="279" r:id="rId26"/>
    <p:sldId id="280" r:id="rId27"/>
    <p:sldId id="291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82" d="100"/>
          <a:sy n="82" d="100"/>
        </p:scale>
        <p:origin x="4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slideLayout" Target="../slideLayouts/slideLayout7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18" Type="http://schemas.openxmlformats.org/officeDocument/2006/relationships/tags" Target="../tags/tag50.xml"/><Relationship Id="rId26" Type="http://schemas.openxmlformats.org/officeDocument/2006/relationships/slideLayout" Target="../slideLayouts/slideLayout7.xml"/><Relationship Id="rId3" Type="http://schemas.openxmlformats.org/officeDocument/2006/relationships/tags" Target="../tags/tag35.xml"/><Relationship Id="rId21" Type="http://schemas.openxmlformats.org/officeDocument/2006/relationships/tags" Target="../tags/tag53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17" Type="http://schemas.openxmlformats.org/officeDocument/2006/relationships/tags" Target="../tags/tag49.xml"/><Relationship Id="rId25" Type="http://schemas.openxmlformats.org/officeDocument/2006/relationships/tags" Target="../tags/tag57.xml"/><Relationship Id="rId2" Type="http://schemas.openxmlformats.org/officeDocument/2006/relationships/tags" Target="../tags/tag34.xml"/><Relationship Id="rId16" Type="http://schemas.openxmlformats.org/officeDocument/2006/relationships/tags" Target="../tags/tag48.xml"/><Relationship Id="rId20" Type="http://schemas.openxmlformats.org/officeDocument/2006/relationships/tags" Target="../tags/tag52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24" Type="http://schemas.openxmlformats.org/officeDocument/2006/relationships/tags" Target="../tags/tag56.xml"/><Relationship Id="rId5" Type="http://schemas.openxmlformats.org/officeDocument/2006/relationships/tags" Target="../tags/tag37.xml"/><Relationship Id="rId15" Type="http://schemas.openxmlformats.org/officeDocument/2006/relationships/tags" Target="../tags/tag47.xml"/><Relationship Id="rId23" Type="http://schemas.openxmlformats.org/officeDocument/2006/relationships/tags" Target="../tags/tag55.xml"/><Relationship Id="rId10" Type="http://schemas.openxmlformats.org/officeDocument/2006/relationships/tags" Target="../tags/tag42.xml"/><Relationship Id="rId19" Type="http://schemas.openxmlformats.org/officeDocument/2006/relationships/tags" Target="../tags/tag51.xml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tags" Target="../tags/tag46.xml"/><Relationship Id="rId22" Type="http://schemas.openxmlformats.org/officeDocument/2006/relationships/tags" Target="../tags/tag5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59.xml"/><Relationship Id="rId16" Type="http://schemas.openxmlformats.org/officeDocument/2006/relationships/tags" Target="../tags/tag73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5" Type="http://schemas.openxmlformats.org/officeDocument/2006/relationships/tags" Target="../tags/tag62.xml"/><Relationship Id="rId15" Type="http://schemas.openxmlformats.org/officeDocument/2006/relationships/tags" Target="../tags/tag72.xml"/><Relationship Id="rId10" Type="http://schemas.openxmlformats.org/officeDocument/2006/relationships/tags" Target="../tags/tag67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tags" Target="../tags/tag86.xml"/><Relationship Id="rId18" Type="http://schemas.openxmlformats.org/officeDocument/2006/relationships/tags" Target="../tags/tag91.xml"/><Relationship Id="rId3" Type="http://schemas.openxmlformats.org/officeDocument/2006/relationships/tags" Target="../tags/tag76.xml"/><Relationship Id="rId21" Type="http://schemas.openxmlformats.org/officeDocument/2006/relationships/tags" Target="../tags/tag94.xml"/><Relationship Id="rId7" Type="http://schemas.openxmlformats.org/officeDocument/2006/relationships/tags" Target="../tags/tag80.xml"/><Relationship Id="rId12" Type="http://schemas.openxmlformats.org/officeDocument/2006/relationships/tags" Target="../tags/tag85.xml"/><Relationship Id="rId17" Type="http://schemas.openxmlformats.org/officeDocument/2006/relationships/tags" Target="../tags/tag90.xml"/><Relationship Id="rId2" Type="http://schemas.openxmlformats.org/officeDocument/2006/relationships/tags" Target="../tags/tag75.xml"/><Relationship Id="rId16" Type="http://schemas.openxmlformats.org/officeDocument/2006/relationships/tags" Target="../tags/tag89.xml"/><Relationship Id="rId20" Type="http://schemas.openxmlformats.org/officeDocument/2006/relationships/tags" Target="../tags/tag93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5" Type="http://schemas.openxmlformats.org/officeDocument/2006/relationships/tags" Target="../tags/tag78.xml"/><Relationship Id="rId15" Type="http://schemas.openxmlformats.org/officeDocument/2006/relationships/tags" Target="../tags/tag88.xml"/><Relationship Id="rId23" Type="http://schemas.openxmlformats.org/officeDocument/2006/relationships/slideLayout" Target="../slideLayouts/slideLayout7.xml"/><Relationship Id="rId10" Type="http://schemas.openxmlformats.org/officeDocument/2006/relationships/tags" Target="../tags/tag83.xml"/><Relationship Id="rId19" Type="http://schemas.openxmlformats.org/officeDocument/2006/relationships/tags" Target="../tags/tag92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tags" Target="../tags/tag87.xml"/><Relationship Id="rId22" Type="http://schemas.openxmlformats.org/officeDocument/2006/relationships/tags" Target="../tags/tag9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13" Type="http://schemas.openxmlformats.org/officeDocument/2006/relationships/tags" Target="../tags/tag108.xml"/><Relationship Id="rId18" Type="http://schemas.openxmlformats.org/officeDocument/2006/relationships/tags" Target="../tags/tag113.xml"/><Relationship Id="rId3" Type="http://schemas.openxmlformats.org/officeDocument/2006/relationships/tags" Target="../tags/tag98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102.xml"/><Relationship Id="rId12" Type="http://schemas.openxmlformats.org/officeDocument/2006/relationships/tags" Target="../tags/tag107.xml"/><Relationship Id="rId17" Type="http://schemas.openxmlformats.org/officeDocument/2006/relationships/tags" Target="../tags/tag112.xml"/><Relationship Id="rId2" Type="http://schemas.openxmlformats.org/officeDocument/2006/relationships/tags" Target="../tags/tag97.xml"/><Relationship Id="rId16" Type="http://schemas.openxmlformats.org/officeDocument/2006/relationships/tags" Target="../tags/tag111.xml"/><Relationship Id="rId20" Type="http://schemas.openxmlformats.org/officeDocument/2006/relationships/tags" Target="../tags/tag115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tags" Target="../tags/tag106.xml"/><Relationship Id="rId5" Type="http://schemas.openxmlformats.org/officeDocument/2006/relationships/tags" Target="../tags/tag100.xml"/><Relationship Id="rId15" Type="http://schemas.openxmlformats.org/officeDocument/2006/relationships/tags" Target="../tags/tag110.xml"/><Relationship Id="rId10" Type="http://schemas.openxmlformats.org/officeDocument/2006/relationships/tags" Target="../tags/tag105.xml"/><Relationship Id="rId19" Type="http://schemas.openxmlformats.org/officeDocument/2006/relationships/tags" Target="../tags/tag114.xml"/><Relationship Id="rId4" Type="http://schemas.openxmlformats.org/officeDocument/2006/relationships/tags" Target="../tags/tag99.xml"/><Relationship Id="rId9" Type="http://schemas.openxmlformats.org/officeDocument/2006/relationships/tags" Target="../tags/tag104.xml"/><Relationship Id="rId14" Type="http://schemas.openxmlformats.org/officeDocument/2006/relationships/tags" Target="../tags/tag109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tags" Target="../tags/tag128.xml"/><Relationship Id="rId18" Type="http://schemas.openxmlformats.org/officeDocument/2006/relationships/tags" Target="../tags/tag133.xml"/><Relationship Id="rId26" Type="http://schemas.openxmlformats.org/officeDocument/2006/relationships/slideLayout" Target="../slideLayouts/slideLayout7.xml"/><Relationship Id="rId3" Type="http://schemas.openxmlformats.org/officeDocument/2006/relationships/tags" Target="../tags/tag118.xml"/><Relationship Id="rId21" Type="http://schemas.openxmlformats.org/officeDocument/2006/relationships/tags" Target="../tags/tag136.xml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17" Type="http://schemas.openxmlformats.org/officeDocument/2006/relationships/tags" Target="../tags/tag132.xml"/><Relationship Id="rId25" Type="http://schemas.openxmlformats.org/officeDocument/2006/relationships/tags" Target="../tags/tag140.xml"/><Relationship Id="rId2" Type="http://schemas.openxmlformats.org/officeDocument/2006/relationships/tags" Target="../tags/tag117.xml"/><Relationship Id="rId16" Type="http://schemas.openxmlformats.org/officeDocument/2006/relationships/tags" Target="../tags/tag131.xml"/><Relationship Id="rId20" Type="http://schemas.openxmlformats.org/officeDocument/2006/relationships/tags" Target="../tags/tag135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24" Type="http://schemas.openxmlformats.org/officeDocument/2006/relationships/tags" Target="../tags/tag139.xml"/><Relationship Id="rId5" Type="http://schemas.openxmlformats.org/officeDocument/2006/relationships/tags" Target="../tags/tag120.xml"/><Relationship Id="rId15" Type="http://schemas.openxmlformats.org/officeDocument/2006/relationships/tags" Target="../tags/tag130.xml"/><Relationship Id="rId23" Type="http://schemas.openxmlformats.org/officeDocument/2006/relationships/tags" Target="../tags/tag138.xml"/><Relationship Id="rId10" Type="http://schemas.openxmlformats.org/officeDocument/2006/relationships/tags" Target="../tags/tag125.xml"/><Relationship Id="rId19" Type="http://schemas.openxmlformats.org/officeDocument/2006/relationships/tags" Target="../tags/tag134.xml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tags" Target="../tags/tag129.xml"/><Relationship Id="rId22" Type="http://schemas.openxmlformats.org/officeDocument/2006/relationships/tags" Target="../tags/tag13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148.xml"/><Relationship Id="rId13" Type="http://schemas.openxmlformats.org/officeDocument/2006/relationships/tags" Target="../tags/tag153.xml"/><Relationship Id="rId3" Type="http://schemas.openxmlformats.org/officeDocument/2006/relationships/tags" Target="../tags/tag143.xml"/><Relationship Id="rId7" Type="http://schemas.openxmlformats.org/officeDocument/2006/relationships/tags" Target="../tags/tag147.xml"/><Relationship Id="rId12" Type="http://schemas.openxmlformats.org/officeDocument/2006/relationships/tags" Target="../tags/tag152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142.xml"/><Relationship Id="rId16" Type="http://schemas.openxmlformats.org/officeDocument/2006/relationships/tags" Target="../tags/tag156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11" Type="http://schemas.openxmlformats.org/officeDocument/2006/relationships/tags" Target="../tags/tag151.xml"/><Relationship Id="rId5" Type="http://schemas.openxmlformats.org/officeDocument/2006/relationships/tags" Target="../tags/tag145.xml"/><Relationship Id="rId15" Type="http://schemas.openxmlformats.org/officeDocument/2006/relationships/tags" Target="../tags/tag155.xml"/><Relationship Id="rId10" Type="http://schemas.openxmlformats.org/officeDocument/2006/relationships/tags" Target="../tags/tag150.xml"/><Relationship Id="rId4" Type="http://schemas.openxmlformats.org/officeDocument/2006/relationships/tags" Target="../tags/tag144.xml"/><Relationship Id="rId9" Type="http://schemas.openxmlformats.org/officeDocument/2006/relationships/tags" Target="../tags/tag149.xml"/><Relationship Id="rId14" Type="http://schemas.openxmlformats.org/officeDocument/2006/relationships/tags" Target="../tags/tag15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69680" y="-2103120"/>
            <a:ext cx="5669280" cy="5669280"/>
          </a:xfrm>
          <a:prstGeom prst="ellipse">
            <a:avLst/>
          </a:prstGeom>
          <a:solidFill>
            <a:srgbClr val="2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-914400"/>
            <a:ext cx="3291840" cy="3291840"/>
          </a:xfrm>
          <a:prstGeom prst="ellipse">
            <a:avLst/>
          </a:prstGeom>
          <a:solidFill>
            <a:srgbClr val="1E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2871216" cy="310896"/>
          </a:xfrm>
          <a:prstGeom prst="roundRect">
            <a:avLst>
              <a:gd name="adj" fmla="val 50000"/>
            </a:avLst>
          </a:prstGeom>
          <a:solidFill>
            <a:srgbClr val="2A2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09828"/>
            <a:ext cx="287121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大团队答辩汇报 · 2026 / 07 /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96012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技术监督辅助平台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9D6EC"/>
                </a:solidFill>
                <a:latin typeface="微软雅黑" panose="020B0503020204020204" charset="-122"/>
                <a:ea typeface="微软雅黑" panose="020B0503020204020204" charset="-122"/>
              </a:rPr>
              <a:t>电力行业智能知识管理与报告生成系统 · 项目总结与答辩汇报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77639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24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968496"/>
            <a:ext cx="10515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EE6F5"/>
                </a:solidFill>
                <a:latin typeface="微软雅黑" panose="020B0503020204020204" charset="-122"/>
                <a:ea typeface="微软雅黑" panose="020B0503020204020204" charset="-122"/>
              </a:rPr>
              <a:t>知识库管理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5688" y="3977639"/>
            <a:ext cx="941832" cy="420624"/>
          </a:xfrm>
          <a:prstGeom prst="roundRect">
            <a:avLst>
              <a:gd name="adj" fmla="val 50000"/>
            </a:avLst>
          </a:prstGeom>
          <a:solidFill>
            <a:srgbClr val="24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75688" y="3968496"/>
            <a:ext cx="94183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EE6F5"/>
                </a:solidFill>
                <a:latin typeface="微软雅黑" panose="020B0503020204020204" charset="-122"/>
                <a:ea typeface="微软雅黑" panose="020B0503020204020204" charset="-122"/>
              </a:rPr>
              <a:t>智能问答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18688" y="3977639"/>
            <a:ext cx="941832" cy="420624"/>
          </a:xfrm>
          <a:prstGeom prst="roundRect">
            <a:avLst>
              <a:gd name="adj" fmla="val 50000"/>
            </a:avLst>
          </a:prstGeom>
          <a:solidFill>
            <a:srgbClr val="24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18688" y="3968496"/>
            <a:ext cx="94183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EE6F5"/>
                </a:solidFill>
                <a:latin typeface="微软雅黑" panose="020B0503020204020204" charset="-122"/>
                <a:ea typeface="微软雅黑" panose="020B0503020204020204" charset="-122"/>
              </a:rPr>
              <a:t>报告生成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17720"/>
            <a:ext cx="248716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6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38928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BA8C6"/>
                </a:solidFill>
                <a:latin typeface="微软雅黑" panose="020B0503020204020204" charset="-122"/>
                <a:ea typeface="微软雅黑" panose="020B0503020204020204" charset="-122"/>
              </a:rPr>
              <a:t>个微服务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35808" y="4663440"/>
            <a:ext cx="10972" cy="777240"/>
          </a:xfrm>
          <a:prstGeom prst="rect">
            <a:avLst/>
          </a:prstGeom>
          <a:solidFill>
            <a:srgbClr val="334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0128" y="4617720"/>
            <a:ext cx="248716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1,610+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5138928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BA8C6"/>
                </a:solidFill>
                <a:latin typeface="微软雅黑" panose="020B0503020204020204" charset="-122"/>
                <a:ea typeface="微软雅黑" panose="020B0503020204020204" charset="-122"/>
              </a:rPr>
              <a:t>commits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2976" y="4663440"/>
            <a:ext cx="10972" cy="777240"/>
          </a:xfrm>
          <a:prstGeom prst="rect">
            <a:avLst/>
          </a:prstGeom>
          <a:solidFill>
            <a:srgbClr val="334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97296" y="4617720"/>
            <a:ext cx="248716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419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7296" y="5138928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BA8C6"/>
                </a:solidFill>
                <a:latin typeface="微软雅黑" panose="020B0503020204020204" charset="-122"/>
                <a:ea typeface="微软雅黑" panose="020B0503020204020204" charset="-122"/>
              </a:rPr>
              <a:t>个 Pull Request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10144" y="4663440"/>
            <a:ext cx="10972" cy="777240"/>
          </a:xfrm>
          <a:prstGeom prst="rect">
            <a:avLst/>
          </a:prstGeom>
          <a:solidFill>
            <a:srgbClr val="334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84464" y="4617720"/>
            <a:ext cx="248716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5138928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BA8C6"/>
                </a:solidFill>
                <a:latin typeface="微软雅黑" panose="020B0503020204020204" charset="-122"/>
                <a:ea typeface="微软雅黑" panose="020B0503020204020204" charset="-122"/>
              </a:rPr>
              <a:t>项需求全量落地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E9CBC"/>
                </a:solidFill>
                <a:latin typeface="微软雅黑" panose="020B0503020204020204" charset="-122"/>
                <a:ea typeface="微软雅黑" panose="020B0503020204020204" charset="-122"/>
              </a:rPr>
              <a:t>三大子系统一体化交付 · Gateway / Auth / Knowledge / QA / Document / File / AI Gateway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870448"/>
            <a:ext cx="10515600" cy="10972"/>
          </a:xfrm>
          <a:prstGeom prst="rect">
            <a:avLst/>
          </a:prstGeom>
          <a:solidFill>
            <a:srgbClr val="2A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85953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答辩议程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汇报内容与时间安排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10634472" cy="786384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>
            <p:custDataLst>
              <p:tags r:id="rId1"/>
            </p:custDataLst>
          </p:nvPr>
        </p:nvSpPr>
        <p:spPr>
          <a:xfrm>
            <a:off x="1005840" y="1947672"/>
            <a:ext cx="457200" cy="457200"/>
          </a:xfrm>
          <a:prstGeom prst="ellipse">
            <a:avLst/>
          </a:prstGeom>
          <a:solidFill>
            <a:srgbClr val="2F5AA8"/>
          </a:solidFill>
          <a:ln>
            <a:noFill/>
          </a:ln>
          <a:effectLst>
            <a:outerShdw blurRad="41148" dist="20116" dir="3000000" rotWithShape="0">
              <a:srgbClr val="3A4A6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1005840" y="19293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1691640" y="1874519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项目背景与整体完成度</a:t>
            </a:r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1691640" y="2221991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产品定位 · 业务链路 · 需求落地总览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97480"/>
            <a:ext cx="10634472" cy="786384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>
            <p:custDataLst>
              <p:tags r:id="rId5"/>
            </p:custDataLst>
          </p:nvPr>
        </p:nvSpPr>
        <p:spPr>
          <a:xfrm>
            <a:off x="1005840" y="2862072"/>
            <a:ext cx="457200" cy="457200"/>
          </a:xfrm>
          <a:prstGeom prst="ellipse">
            <a:avLst/>
          </a:prstGeom>
          <a:solidFill>
            <a:srgbClr val="2F5AA8"/>
          </a:solidFill>
          <a:ln>
            <a:noFill/>
          </a:ln>
          <a:effectLst>
            <a:outerShdw blurRad="41148" dist="20116" dir="3000000" rotWithShape="0">
              <a:srgbClr val="3A4A6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1005840" y="28437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1691640" y="278892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系统架构与技术实现</a:t>
            </a: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1691640" y="3136392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微服务架构 · 技术选型 · 核心技术亮点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11880"/>
            <a:ext cx="10634472" cy="786384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>
            <p:custDataLst>
              <p:tags r:id="rId9"/>
            </p:custDataLst>
          </p:nvPr>
        </p:nvSpPr>
        <p:spPr>
          <a:xfrm>
            <a:off x="1005840" y="3776472"/>
            <a:ext cx="457200" cy="457200"/>
          </a:xfrm>
          <a:prstGeom prst="ellipse">
            <a:avLst/>
          </a:prstGeom>
          <a:solidFill>
            <a:srgbClr val="2F5AA8"/>
          </a:solidFill>
          <a:ln>
            <a:noFill/>
          </a:ln>
          <a:effectLst>
            <a:outerShdw blurRad="41148" dist="20116" dir="3000000" rotWithShape="0">
              <a:srgbClr val="3A4A6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1005840" y="37581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1691640" y="370332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三大模块详解</a:t>
            </a:r>
          </a:p>
        </p:txBody>
      </p:sp>
      <p:sp>
        <p:nvSpPr>
          <p:cNvPr id="21" name="TextBox 20"/>
          <p:cNvSpPr txBox="1"/>
          <p:nvPr>
            <p:custDataLst>
              <p:tags r:id="rId12"/>
            </p:custDataLst>
          </p:nvPr>
        </p:nvSpPr>
        <p:spPr>
          <a:xfrm>
            <a:off x="1691640" y="4050791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知识管理 · 智能问答 · 报告生成 · 落地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526280"/>
            <a:ext cx="10634472" cy="786384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>
            <p:custDataLst>
              <p:tags r:id="rId13"/>
            </p:custDataLst>
          </p:nvPr>
        </p:nvSpPr>
        <p:spPr>
          <a:xfrm>
            <a:off x="1005840" y="4690872"/>
            <a:ext cx="457200" cy="457200"/>
          </a:xfrm>
          <a:prstGeom prst="ellipse">
            <a:avLst/>
          </a:prstGeom>
          <a:solidFill>
            <a:srgbClr val="2F5AA8"/>
          </a:solidFill>
          <a:ln>
            <a:noFill/>
          </a:ln>
          <a:effectLst>
            <a:outerShdw blurRad="41148" dist="20116" dir="3000000" rotWithShape="0">
              <a:srgbClr val="3A4A6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>
            <p:custDataLst>
              <p:tags r:id="rId14"/>
            </p:custDataLst>
          </p:nvPr>
        </p:nvSpPr>
        <p:spPr>
          <a:xfrm>
            <a:off x="1005840" y="46725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</a:p>
        </p:txBody>
      </p:sp>
      <p:sp>
        <p:nvSpPr>
          <p:cNvPr id="25" name="TextBox 24"/>
          <p:cNvSpPr txBox="1"/>
          <p:nvPr>
            <p:custDataLst>
              <p:tags r:id="rId15"/>
            </p:custDataLst>
          </p:nvPr>
        </p:nvSpPr>
        <p:spPr>
          <a:xfrm>
            <a:off x="1691640" y="461772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工程规范与质量保障</a:t>
            </a:r>
          </a:p>
        </p:txBody>
      </p:sp>
      <p:sp>
        <p:nvSpPr>
          <p:cNvPr id="26" name="TextBox 25"/>
          <p:cNvSpPr txBox="1"/>
          <p:nvPr>
            <p:custDataLst>
              <p:tags r:id="rId16"/>
            </p:custDataLst>
          </p:nvPr>
        </p:nvSpPr>
        <p:spPr>
          <a:xfrm>
            <a:off x="1691640" y="4965192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敏捷协作 · 测试体系 · 问题闭环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440680"/>
            <a:ext cx="10634472" cy="786384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>
            <p:custDataLst>
              <p:tags r:id="rId17"/>
            </p:custDataLst>
          </p:nvPr>
        </p:nvSpPr>
        <p:spPr>
          <a:xfrm>
            <a:off x="1005840" y="5605272"/>
            <a:ext cx="457200" cy="457200"/>
          </a:xfrm>
          <a:prstGeom prst="ellipse">
            <a:avLst/>
          </a:prstGeom>
          <a:solidFill>
            <a:srgbClr val="2F5AA8"/>
          </a:solidFill>
          <a:ln>
            <a:noFill/>
          </a:ln>
          <a:effectLst>
            <a:outerShdw blurRad="41148" dist="20116" dir="3000000" rotWithShape="0">
              <a:srgbClr val="3A4A6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>
            <p:custDataLst>
              <p:tags r:id="rId18"/>
            </p:custDataLst>
          </p:nvPr>
        </p:nvSpPr>
        <p:spPr>
          <a:xfrm>
            <a:off x="1005840" y="55869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</a:p>
        </p:txBody>
      </p:sp>
      <p:sp>
        <p:nvSpPr>
          <p:cNvPr id="30" name="TextBox 29"/>
          <p:cNvSpPr txBox="1"/>
          <p:nvPr>
            <p:custDataLst>
              <p:tags r:id="rId19"/>
            </p:custDataLst>
          </p:nvPr>
        </p:nvSpPr>
        <p:spPr>
          <a:xfrm>
            <a:off x="1691640" y="553212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项目现状与后续规划</a:t>
            </a:r>
          </a:p>
        </p:txBody>
      </p:sp>
      <p:sp>
        <p:nvSpPr>
          <p:cNvPr id="31" name="TextBox 30"/>
          <p:cNvSpPr txBox="1"/>
          <p:nvPr>
            <p:custDataLst>
              <p:tags r:id="rId20"/>
            </p:custDataLst>
          </p:nvPr>
        </p:nvSpPr>
        <p:spPr>
          <a:xfrm>
            <a:off x="1691640" y="5879592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完成度总览 · 差距与展望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答辩议程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85953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59798" y="457200"/>
            <a:ext cx="2051913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59798" y="452628"/>
            <a:ext cx="205191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 整体项目完成度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面向电力行业的智能知识管理与报告生成平台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5120640" cy="41605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9933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23160"/>
            <a:ext cx="4572000" cy="3383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050"/>
              </a:spcAft>
            </a:pPr>
            <a:r>
              <a:rPr sz="123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3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固定命题：</a:t>
            </a:r>
            <a:r>
              <a:rPr sz="123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课程统一确定「技术监督辅助平台」，拆分知识库管理、智能问答、报告生成三大独立子系统，三组合并为一套可联调的完整平台。</a:t>
            </a:r>
          </a:p>
          <a:p>
            <a:pPr>
              <a:lnSpc>
                <a:spcPct val="115000"/>
              </a:lnSpc>
              <a:spcAft>
                <a:spcPts val="1050"/>
              </a:spcAft>
            </a:pPr>
            <a:r>
              <a:rPr sz="123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3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行业痛点：</a:t>
            </a:r>
            <a:r>
              <a:rPr sz="123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电力行业规程、检查报告、技术资料体量大、检索困难；迎峰度夏检查报告、煤库存审计报告等专业报告人工编写耗时且格式要求严格。</a:t>
            </a:r>
          </a:p>
          <a:p>
            <a:pPr>
              <a:lnSpc>
                <a:spcPct val="115000"/>
              </a:lnSpc>
              <a:spcAft>
                <a:spcPts val="1050"/>
              </a:spcAft>
            </a:pPr>
            <a:r>
              <a:rPr sz="123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3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协作规模：</a:t>
            </a:r>
            <a:r>
              <a:rPr sz="123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104 名学生分 12 组、组成 4 个大团队，每团队下设 3 个小组（知识库/问答/报告各 1 组），每组 7-9 人，配 1 名导师。</a:t>
            </a:r>
          </a:p>
          <a:p>
            <a:pPr>
              <a:lnSpc>
                <a:spcPct val="115000"/>
              </a:lnSpc>
              <a:spcAft>
                <a:spcPts val="1050"/>
              </a:spcAft>
            </a:pPr>
            <a:r>
              <a:rPr sz="123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3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时间窗口：</a:t>
            </a:r>
            <a:r>
              <a:rPr sz="123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2026/6/27 启动、7/5 结项答辩，9 个自然日内完成需求分析、设计、开发、联调与测试全流程。</a:t>
            </a:r>
          </a:p>
          <a:p>
            <a:pPr>
              <a:lnSpc>
                <a:spcPct val="115000"/>
              </a:lnSpc>
              <a:spcAft>
                <a:spcPts val="1050"/>
              </a:spcAft>
            </a:pPr>
            <a:r>
              <a:rPr sz="123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3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方法论：</a:t>
            </a:r>
            <a:r>
              <a:rPr sz="123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全程使用 PingCode 管理史诗/用户故事/迭代，Scrum 计划会议、每日站会、迭代回顾会驱动交付节奏。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8192" y="1783080"/>
            <a:ext cx="5303520" cy="4160520"/>
          </a:xfrm>
          <a:prstGeom prst="roundRect">
            <a:avLst>
              <a:gd name="adj" fmla="val 4500"/>
            </a:avLst>
          </a:prstGeom>
          <a:solidFill>
            <a:srgbClr val="EAF0FA"/>
          </a:solidFill>
          <a:ln w="12700">
            <a:solidFill>
              <a:srgbClr val="D3E0F5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99339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产品定位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377440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以行业文档与知识库为基础，打通「文件上传 → 解析切片 → 向量化索引 → 知识检索 → 智能问答 / 报告生成 → 引用溯源 / DOCX 导出」完整业务链路。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331012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核心考核点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639312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8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18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智能问答准确率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8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18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报告生成完成度与专业质量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8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18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文档处理、检索召回、引用溯源、导出样式的一致性与稳定性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18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18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列表接口分页、检索 Top K/阈值可控，避免性能与体验退化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50749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权限与安全基线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5376672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角色级 RBAC（标准 / 管理员 / 超级管理员），opaque Bearer token 鉴权，删除类操作二次确认。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项目背景与整体完成度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1060704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整体业务链路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1992874" y="621792"/>
            <a:ext cx="8205946" cy="5806440"/>
          </a:xfrm>
          <a:prstGeom prst="rect">
            <a:avLst/>
          </a:prstGeom>
          <a:noFill/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项目背景与整体完成度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图片 9" descr="系统核心业务流程图--修改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630" y="140970"/>
            <a:ext cx="8897620" cy="63214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组织与分工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5129" y="457200"/>
            <a:ext cx="1916582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95129" y="452628"/>
            <a:ext cx="191658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  团队协同管理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三大子系统 · 大团队协同交付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3429000" cy="306324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05840" y="2087880"/>
            <a:ext cx="457200" cy="457200"/>
          </a:xfrm>
          <a:prstGeom prst="ellipse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087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2029968"/>
            <a:ext cx="24231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知识库组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239572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负责子系统：知识库管理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907792"/>
            <a:ext cx="2926080" cy="182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900"/>
              </a:spcAft>
            </a:pPr>
            <a:r>
              <a:rPr sz="12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知识库 CRUD 与权限范围</a:t>
            </a:r>
          </a:p>
          <a:p>
            <a:pPr>
              <a:lnSpc>
                <a:spcPct val="115000"/>
              </a:lnSpc>
              <a:spcAft>
                <a:spcPts val="1900"/>
              </a:spcAft>
            </a:pPr>
            <a:r>
              <a:rPr sz="12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文档上传 / 解析 / 切片</a:t>
            </a:r>
          </a:p>
          <a:p>
            <a:pPr>
              <a:lnSpc>
                <a:spcPct val="115000"/>
              </a:lnSpc>
              <a:spcAft>
                <a:spcPts val="1900"/>
              </a:spcAft>
            </a:pPr>
            <a:r>
              <a:rPr sz="12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向量化索引与语义检索</a:t>
            </a:r>
          </a:p>
          <a:p>
            <a:pPr>
              <a:lnSpc>
                <a:spcPct val="115000"/>
              </a:lnSpc>
              <a:spcAft>
                <a:spcPts val="1900"/>
              </a:spcAft>
            </a:pPr>
            <a:r>
              <a:rPr sz="12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文档标签与状态跟踪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6" y="1783080"/>
            <a:ext cx="3429000" cy="306324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700016" y="2082800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0016" y="2082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029968"/>
            <a:ext cx="24231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智能问答组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39572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负责子系统：智能问答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2907792"/>
            <a:ext cx="2926080" cy="182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900"/>
              </a:spcAft>
            </a:pPr>
            <a:r>
              <a:rPr sz="125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会话与多轮消息管理</a:t>
            </a:r>
          </a:p>
          <a:p>
            <a:pPr>
              <a:lnSpc>
                <a:spcPct val="115000"/>
              </a:lnSpc>
              <a:spcAft>
                <a:spcPts val="1900"/>
              </a:spcAft>
            </a:pPr>
            <a:r>
              <a:rPr sz="125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Agent / ReAct 循环编排</a:t>
            </a:r>
          </a:p>
          <a:p>
            <a:pPr>
              <a:lnSpc>
                <a:spcPct val="115000"/>
              </a:lnSpc>
              <a:spcAft>
                <a:spcPts val="1900"/>
              </a:spcAft>
            </a:pPr>
            <a:r>
              <a:rPr sz="125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MCP 工具调用与引用溯源</a:t>
            </a:r>
          </a:p>
          <a:p>
            <a:pPr>
              <a:lnSpc>
                <a:spcPct val="115000"/>
              </a:lnSpc>
              <a:spcAft>
                <a:spcPts val="1900"/>
              </a:spcAft>
            </a:pPr>
            <a:r>
              <a:rPr sz="125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SSE 流式回答输出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5592" y="1783080"/>
            <a:ext cx="3429000" cy="306324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94192" y="2087880"/>
            <a:ext cx="457200" cy="457200"/>
          </a:xfrm>
          <a:prstGeom prst="ellipse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94192" y="2087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2029968"/>
            <a:ext cx="242316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报告生成组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4272" y="2395728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负责子系统：报告生成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2907792"/>
            <a:ext cx="2926080" cy="182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900"/>
              </a:spcAft>
            </a:pPr>
            <a:r>
              <a:rPr sz="12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报告模板与支撑材料</a:t>
            </a:r>
          </a:p>
          <a:p>
            <a:pPr>
              <a:lnSpc>
                <a:spcPct val="115000"/>
              </a:lnSpc>
              <a:spcAft>
                <a:spcPts val="1900"/>
              </a:spcAft>
            </a:pPr>
            <a:r>
              <a:rPr sz="12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大纲生成与在线编辑</a:t>
            </a:r>
          </a:p>
          <a:p>
            <a:pPr>
              <a:lnSpc>
                <a:spcPct val="115000"/>
              </a:lnSpc>
              <a:spcAft>
                <a:spcPts val="1900"/>
              </a:spcAft>
            </a:pPr>
            <a:r>
              <a:rPr sz="12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章节流式生成</a:t>
            </a:r>
          </a:p>
          <a:p>
            <a:pPr>
              <a:lnSpc>
                <a:spcPct val="115000"/>
              </a:lnSpc>
              <a:spcAft>
                <a:spcPts val="1900"/>
              </a:spcAft>
            </a:pPr>
            <a:r>
              <a:rPr sz="12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DOCX 统一样式导出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074920"/>
            <a:ext cx="10634472" cy="777240"/>
          </a:xfrm>
          <a:prstGeom prst="roundRect">
            <a:avLst>
              <a:gd name="adj" fmla="val 4500"/>
            </a:avLst>
          </a:prstGeom>
          <a:solidFill>
            <a:srgbClr val="14213D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1560" y="519379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大团队统筹：</a:t>
            </a:r>
            <a:r>
              <a:rPr sz="1300" b="0" i="0">
                <a:solidFill>
                  <a:srgbClr val="E7ECF6"/>
                </a:solidFill>
                <a:latin typeface="微软雅黑" panose="020B0503020204020204" charset="-122"/>
                <a:ea typeface="微软雅黑" panose="020B0503020204020204" charset="-122"/>
              </a:rPr>
              <a:t>团长统筹 3 个小组需求同步、跨模块联调排期与风险复盘，保障 Gateway 统一入口下三大子系统无缝打通。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项目背景与整体完成度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85953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协作留痕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5129" y="457200"/>
            <a:ext cx="1916582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95129" y="452628"/>
            <a:ext cx="191658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  团队协同管理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真实工程数据：GitHub 上的协作过程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777240" y="1783080"/>
            <a:ext cx="2606040" cy="11430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>
            <p:custDataLst>
              <p:tags r:id="rId2"/>
            </p:custDataLst>
          </p:nvPr>
        </p:nvSpPr>
        <p:spPr>
          <a:xfrm>
            <a:off x="777240" y="192024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1,610+</a:t>
            </a:r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777240" y="248716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commits</a:t>
            </a:r>
          </a:p>
        </p:txBody>
      </p:sp>
      <p:sp>
        <p:nvSpPr>
          <p:cNvPr id="12" name="Rounded Rectangle 11"/>
          <p:cNvSpPr/>
          <p:nvPr>
            <p:custDataLst>
              <p:tags r:id="rId4"/>
            </p:custDataLst>
          </p:nvPr>
        </p:nvSpPr>
        <p:spPr>
          <a:xfrm>
            <a:off x="3529584" y="1783080"/>
            <a:ext cx="2606040" cy="11430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3529584" y="192024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419</a:t>
            </a:r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3565144" y="248716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个 Pull Request（417 已合并/关闭）</a:t>
            </a:r>
          </a:p>
        </p:txBody>
      </p:sp>
      <p:sp>
        <p:nvSpPr>
          <p:cNvPr id="15" name="Rounded Rectangle 14"/>
          <p:cNvSpPr/>
          <p:nvPr>
            <p:custDataLst>
              <p:tags r:id="rId7"/>
            </p:custDataLst>
          </p:nvPr>
        </p:nvSpPr>
        <p:spPr>
          <a:xfrm>
            <a:off x="6281928" y="1783080"/>
            <a:ext cx="2606040" cy="11430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6281928" y="192024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656</a:t>
            </a:r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6281928" y="248716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累计 Issue/PR 编号</a:t>
            </a:r>
          </a:p>
        </p:txBody>
      </p:sp>
      <p:sp>
        <p:nvSpPr>
          <p:cNvPr id="18" name="Rounded Rectangle 17"/>
          <p:cNvSpPr/>
          <p:nvPr>
            <p:custDataLst>
              <p:tags r:id="rId10"/>
            </p:custDataLst>
          </p:nvPr>
        </p:nvSpPr>
        <p:spPr>
          <a:xfrm>
            <a:off x="9034272" y="1783080"/>
            <a:ext cx="2606040" cy="11430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9034272" y="192024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2,500+</a:t>
            </a: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9034272" y="248716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次 CI 工作流运行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15468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GitHub Discussions 真实技术讨论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77240" y="3520440"/>
          <a:ext cx="1063447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讨论</a:t>
                      </a:r>
                    </a:p>
                  </a:txBody>
                  <a:tcPr marL="101600" marT="50800" marB="508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标题</a:t>
                      </a:r>
                    </a:p>
                  </a:txBody>
                  <a:tcPr marL="101600" marT="50800" marB="508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回复</a:t>
                      </a:r>
                    </a:p>
                  </a:txBody>
                  <a:tcPr marL="101600" marT="50800" marB="50800" anchor="ctr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sz="1030" b="1" i="0">
                          <a:solidFill>
                            <a:srgbClr val="C98A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#333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对测试方向我们目前这个阶段可以开始完成哪些工作的讨论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61 条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sz="1030" b="1" i="0">
                          <a:solidFill>
                            <a:srgbClr val="C98A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#229</a:t>
                      </a:r>
                    </a:p>
                  </a:txBody>
                  <a:tcPr marL="101600" marR="76200" marT="38100" marB="3810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评审：6 月 29 日新增文档与逐项文档/代码出入决策</a:t>
                      </a:r>
                    </a:p>
                  </a:txBody>
                  <a:tcPr marL="101600" marR="76200" marT="38100" marB="3810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54 条</a:t>
                      </a:r>
                    </a:p>
                  </a:txBody>
                  <a:tcPr marL="101600" marR="76200" marT="38100" marB="38100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sz="1030" b="1" i="0">
                          <a:solidFill>
                            <a:srgbClr val="C98A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#203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项目知识库中 RAG 向量库的设计和选型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 条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sz="1030" b="1" i="0">
                          <a:solidFill>
                            <a:srgbClr val="C98A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#447</a:t>
                      </a:r>
                    </a:p>
                  </a:txBody>
                  <a:tcPr marL="101600" marR="76200" marT="38100" marB="3810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有没有人有空看看怎么做并发的（并发测试方案讨论）</a:t>
                      </a:r>
                    </a:p>
                  </a:txBody>
                  <a:tcPr marL="101600" marR="76200" marT="38100" marB="3810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 条</a:t>
                      </a:r>
                    </a:p>
                  </a:txBody>
                  <a:tcPr marL="101600" marR="76200" marT="38100" marB="38100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sz="1030" b="1" i="0">
                          <a:solidFill>
                            <a:srgbClr val="C98A2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#330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retrieval-test-runs 应走 MCP search_knowledge 还是直调 knowledge-queries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已定案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77240" y="6053328"/>
            <a:ext cx="10634472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所有需求澄清、方案评审与技术分歧均沉淀在 GitHub Discussions / Issues / PR，而非私下口头决定 —— 讨论过程本身就是过程管理证据。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项目背景与整体完成度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1362456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136245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协作与 CI 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89136" y="457200"/>
            <a:ext cx="2322575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89136" y="452628"/>
            <a:ext cx="2322575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  项目规范与过程管理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项目背景与整体完成度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:/Users/lenovo/OneDrive/画像/屏幕快照/图/05_GitHub协作与CI流程图.png05_GitHub协作与CI流程图"/>
          <p:cNvPicPr>
            <a:picLocks noChangeAspect="1"/>
          </p:cNvPicPr>
          <p:nvPr/>
        </p:nvPicPr>
        <p:blipFill>
          <a:blip r:embed="rId2"/>
          <a:srcRect l="71" r="71"/>
          <a:stretch>
            <a:fillRect/>
          </a:stretch>
        </p:blipFill>
        <p:spPr>
          <a:xfrm>
            <a:off x="2065655" y="772795"/>
            <a:ext cx="8294370" cy="5932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85953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系统架构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545" y="159385"/>
            <a:ext cx="8718550" cy="65392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85953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模块结构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9384" y="621792"/>
            <a:ext cx="8132926" cy="5806440"/>
          </a:xfrm>
          <a:prstGeom prst="rect">
            <a:avLst/>
          </a:prstGeom>
          <a:noFill/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:/Users/lenovo/OneDrive/画像/屏幕快照/图/03_模块结构图.png03_模块结构图"/>
          <p:cNvPicPr>
            <a:picLocks noChangeAspect="1"/>
          </p:cNvPicPr>
          <p:nvPr/>
        </p:nvPicPr>
        <p:blipFill>
          <a:blip r:embed="rId2"/>
          <a:srcRect t="26" b="26"/>
          <a:stretch>
            <a:fillRect/>
          </a:stretch>
        </p:blipFill>
        <p:spPr>
          <a:xfrm>
            <a:off x="2029460" y="368300"/>
            <a:ext cx="8487410" cy="6059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1060704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接口调用关系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:/Users/lenovo/OneDrive/画像/屏幕快照/图/01_接口调用关系图.png01_接口调用关系图"/>
          <p:cNvPicPr>
            <a:picLocks noChangeAspect="1"/>
          </p:cNvPicPr>
          <p:nvPr/>
        </p:nvPicPr>
        <p:blipFill>
          <a:blip r:embed="rId2"/>
          <a:srcRect l="71" r="71"/>
          <a:stretch>
            <a:fillRect/>
          </a:stretch>
        </p:blipFill>
        <p:spPr>
          <a:xfrm>
            <a:off x="2103755" y="300990"/>
            <a:ext cx="9037320" cy="64636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85953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服务边界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5129" y="457200"/>
            <a:ext cx="1916582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95129" y="452628"/>
            <a:ext cx="191658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  技术实现质量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微服务职责矩阵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783080"/>
          <a:ext cx="10634472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345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服务</a:t>
                      </a:r>
                    </a:p>
                  </a:txBody>
                  <a:tcPr marL="101600" marT="63500" marB="635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核心职责</a:t>
                      </a:r>
                    </a:p>
                  </a:txBody>
                  <a:tcPr marL="101600" marT="63500" marB="635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关键约束</a:t>
                      </a:r>
                    </a:p>
                  </a:txBody>
                  <a:tcPr marL="101600" marT="63500" marB="63500" anchor="ctr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F5A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gateway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统一 API 入口、路由转发、鉴权上下文透传、Redis 会话缓存、轻量聚合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不持久化业务数据，不直接调用数据库 / LLM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F5A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auth</a:t>
                      </a:r>
                    </a:p>
                  </a:txBody>
                  <a:tcPr marL="101600" marR="76200" marT="50800" marB="5080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用户、角色、权限、会话与令牌签发撤销、强制改密</a:t>
                      </a:r>
                    </a:p>
                  </a:txBody>
                  <a:tcPr marL="101600" marR="76200" marT="50800" marB="5080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不涉及文件、知识、QA、报告等业务数据</a:t>
                      </a:r>
                    </a:p>
                  </a:txBody>
                  <a:tcPr marL="101600" marR="76200" marT="50800" marB="50800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F5A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knowledge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知识库、文档解析/切片/向量化、索引与检索协调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不做答案生成，不暴露底层索引 payload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F5A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qa</a:t>
                      </a:r>
                    </a:p>
                  </a:txBody>
                  <a:tcPr marL="101600" marR="76200" marT="50800" marB="5080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会话消息、Agent/ReAct 循环、MCP 工具编排、引用溯源</a:t>
                      </a:r>
                    </a:p>
                  </a:txBody>
                  <a:tcPr marL="101600" marR="76200" marT="50800" marB="5080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不直接读写向量索引，只通过受控接口检索</a:t>
                      </a:r>
                    </a:p>
                  </a:txBody>
                  <a:tcPr marL="101600" marR="76200" marT="50800" marB="50800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F5A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document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报告模板、材料、大纲、章节、DOCX 导出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不绕过 knowledge 直接做向量检索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F5A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file</a:t>
                      </a:r>
                    </a:p>
                  </a:txBody>
                  <a:tcPr marL="101600" marR="76200" marT="50800" marB="5080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文件上传、MinIO 对象存储协调、最小元数据生命周期</a:t>
                      </a:r>
                    </a:p>
                  </a:txBody>
                  <a:tcPr marL="101600" marR="76200" marT="50800" marB="5080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业务服务不得直接暴露 object key</a:t>
                      </a:r>
                    </a:p>
                  </a:txBody>
                  <a:tcPr marL="101600" marR="76200" marT="50800" marB="50800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F5A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ai-gateway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 Profile、OpenAI 兼容 chat/embedding/rerank 统一封装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不持久化业务真相，不执行 MCP 工具</a:t>
                      </a:r>
                    </a:p>
                  </a:txBody>
                  <a:tcPr marL="1016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5742432"/>
            <a:ext cx="10634472" cy="621792"/>
          </a:xfrm>
          <a:prstGeom prst="roundRect">
            <a:avLst>
              <a:gd name="adj" fmla="val 4500"/>
            </a:avLst>
          </a:prstGeom>
          <a:solidFill>
            <a:srgbClr val="EAF0FA"/>
          </a:solidFill>
          <a:ln w="12700">
            <a:solidFill>
              <a:srgbClr val="D3E0F5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5852160"/>
            <a:ext cx="1014984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补充：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knowledge-runtime 是 knowledge 服务背后的独立 Python 运行时，承载解析/切块/embedding/索引/检索，拥有独立 CI 工作流（Knowledge Runtime）与独立 PR 标签，按 worker/API 形态与 knowledge 适配层协作。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系统架构与技术实现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1060704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核心数据模型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287655" y="905510"/>
            <a:ext cx="1916430" cy="320040"/>
            <a:chOff x="14641" y="713"/>
            <a:chExt cx="3018" cy="504"/>
          </a:xfrm>
        </p:grpSpPr>
        <p:sp>
          <p:nvSpPr>
            <p:cNvPr id="5" name="Rounded Rectangle 4"/>
            <p:cNvSpPr/>
            <p:nvPr/>
          </p:nvSpPr>
          <p:spPr>
            <a:xfrm>
              <a:off x="14641" y="720"/>
              <a:ext cx="3018" cy="490"/>
            </a:xfrm>
            <a:prstGeom prst="roundRect">
              <a:avLst>
                <a:gd name="adj" fmla="val 50000"/>
              </a:avLst>
            </a:prstGeom>
            <a:solidFill>
              <a:srgbClr val="FBF1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641" y="713"/>
              <a:ext cx="3018" cy="5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50" b="1" i="0">
                  <a:solidFill>
                    <a:srgbClr val="C98A2C"/>
                  </a:solidFill>
                  <a:latin typeface="微软雅黑" panose="020B0503020204020204" charset="-122"/>
                  <a:ea typeface="微软雅黑" panose="020B0503020204020204" charset="-122"/>
                </a:rPr>
                <a:t>  技术实现质量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图片 11" descr="ER 概要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910" y="142875"/>
            <a:ext cx="8860790" cy="67151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85953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技术选型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5129" y="457200"/>
            <a:ext cx="1916582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95129" y="452628"/>
            <a:ext cx="191658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  技术实现质量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前端技术栈 · React + TypeScript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3429000" cy="1298448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978408" y="1929384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React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276856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v19.2.7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587752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组件与渲染核心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83080"/>
            <a:ext cx="3429000" cy="1298448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4581144" y="1929384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TypeScript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276856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v6.0.3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587752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类型系统与工程约束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2712" y="1783080"/>
            <a:ext cx="3429000" cy="1298448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8183880" y="1929384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Vite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276856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v8.1.0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587752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构建与开发服务器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227832"/>
            <a:ext cx="3429000" cy="1298448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978408" y="3374136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Tailwind CSS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72160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v4.3.1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4032504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原子化样式方案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9976" y="3227832"/>
            <a:ext cx="3429000" cy="1298448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4581144" y="3374136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TanStack Router/Query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372160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v1.170 / 5.101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4032504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路由与服务端状态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82712" y="3227832"/>
            <a:ext cx="3429000" cy="1298448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8183880" y="3374136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Zustand + Zod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372160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v5.0.14 / 4.4.3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032504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客户端状态与运行时校验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672583"/>
            <a:ext cx="3429000" cy="1298448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TextBox 33"/>
          <p:cNvSpPr txBox="1"/>
          <p:nvPr/>
        </p:nvSpPr>
        <p:spPr>
          <a:xfrm>
            <a:off x="978408" y="4818888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Base UI + Radix + Lucide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" y="5166359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v1.6.0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" y="5477255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UI 基础组件与图标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79976" y="4672583"/>
            <a:ext cx="3429000" cy="1298448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TextBox 37"/>
          <p:cNvSpPr txBox="1"/>
          <p:nvPr/>
        </p:nvSpPr>
        <p:spPr>
          <a:xfrm>
            <a:off x="4581144" y="4818888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Vitest + RTL + Playwright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81144" y="5166359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v4.1.9 / 1.61.1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5477255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单元、组件与 E2E 测试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82712" y="4672583"/>
            <a:ext cx="3429000" cy="1298448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2" name="TextBox 41"/>
          <p:cNvSpPr txBox="1"/>
          <p:nvPr/>
        </p:nvSpPr>
        <p:spPr>
          <a:xfrm>
            <a:off x="8183880" y="4818888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openapi-typescript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80" y="5166359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v7.13.0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5477255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网关契约类型自动生成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系统架构与技术实现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85953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技术选型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5129" y="457200"/>
            <a:ext cx="1916582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95129" y="452628"/>
            <a:ext cx="191658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  技术实现质量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后端与基础设施 · Go 微服务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3429000" cy="1298448"/>
          </a:xfrm>
          <a:prstGeom prst="roundRect">
            <a:avLst>
              <a:gd name="adj" fmla="val 4500"/>
            </a:avLst>
          </a:prstGeom>
          <a:solidFill>
            <a:srgbClr val="EAF0FA"/>
          </a:solidFill>
          <a:ln w="12700">
            <a:solidFill>
              <a:srgbClr val="D3E0F5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978408" y="1929384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276856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1.25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587752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微服务统一语言基线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83080"/>
            <a:ext cx="3429000" cy="1298448"/>
          </a:xfrm>
          <a:prstGeom prst="roundRect">
            <a:avLst>
              <a:gd name="adj" fmla="val 4500"/>
            </a:avLst>
          </a:prstGeom>
          <a:solidFill>
            <a:srgbClr val="EAF0FA"/>
          </a:solidFill>
          <a:ln w="12700">
            <a:solidFill>
              <a:srgbClr val="D3E0F5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4581144" y="1929384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pgx/v5 + sqlc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276856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5.9.2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587752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PostgreSQL 访问与查询生成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2712" y="1783080"/>
            <a:ext cx="3429000" cy="1298448"/>
          </a:xfrm>
          <a:prstGeom prst="roundRect">
            <a:avLst>
              <a:gd name="adj" fmla="val 4500"/>
            </a:avLst>
          </a:prstGeom>
          <a:solidFill>
            <a:srgbClr val="EAF0FA"/>
          </a:solidFill>
          <a:ln w="12700">
            <a:solidFill>
              <a:srgbClr val="D3E0F5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8183880" y="1929384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276856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16-alpine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587752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业务数据权威存储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227832"/>
            <a:ext cx="3429000" cy="1298448"/>
          </a:xfrm>
          <a:prstGeom prst="roundRect">
            <a:avLst>
              <a:gd name="adj" fmla="val 4500"/>
            </a:avLst>
          </a:prstGeom>
          <a:solidFill>
            <a:srgbClr val="EAF0FA"/>
          </a:solidFill>
          <a:ln w="12700">
            <a:solidFill>
              <a:srgbClr val="D3E0F5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978408" y="3374136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Redis + asynq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372160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7-alpine / 0.26.0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4032504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会话缓存与异步任务队列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9976" y="3227832"/>
            <a:ext cx="3429000" cy="1298448"/>
          </a:xfrm>
          <a:prstGeom prst="roundRect">
            <a:avLst>
              <a:gd name="adj" fmla="val 4500"/>
            </a:avLst>
          </a:prstGeom>
          <a:solidFill>
            <a:srgbClr val="EAF0FA"/>
          </a:solidFill>
          <a:ln w="12700">
            <a:solidFill>
              <a:srgbClr val="D3E0F5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4581144" y="3374136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Elasticsearch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372160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8.15.3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4032504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Knowledge runtime 检索索引后端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82712" y="3227832"/>
            <a:ext cx="3429000" cy="1298448"/>
          </a:xfrm>
          <a:prstGeom prst="roundRect">
            <a:avLst>
              <a:gd name="adj" fmla="val 4500"/>
            </a:avLst>
          </a:prstGeom>
          <a:solidFill>
            <a:srgbClr val="EAF0FA"/>
          </a:solidFill>
          <a:ln w="12700">
            <a:solidFill>
              <a:srgbClr val="D3E0F5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8183880" y="3374136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MinIO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372160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2025-09-07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032504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对象存储：原文件/生成文档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672583"/>
            <a:ext cx="3429000" cy="1298448"/>
          </a:xfrm>
          <a:prstGeom prst="roundRect">
            <a:avLst>
              <a:gd name="adj" fmla="val 4500"/>
            </a:avLst>
          </a:prstGeom>
          <a:solidFill>
            <a:srgbClr val="EAF0FA"/>
          </a:solidFill>
          <a:ln w="12700">
            <a:solidFill>
              <a:srgbClr val="D3E0F5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TextBox 33"/>
          <p:cNvSpPr txBox="1"/>
          <p:nvPr/>
        </p:nvSpPr>
        <p:spPr>
          <a:xfrm>
            <a:off x="978408" y="4818888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goose 迁移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" y="5166359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3.27.1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" y="5477255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数据库版本化迁移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79976" y="4672583"/>
            <a:ext cx="3429000" cy="1298448"/>
          </a:xfrm>
          <a:prstGeom prst="roundRect">
            <a:avLst>
              <a:gd name="adj" fmla="val 4500"/>
            </a:avLst>
          </a:prstGeom>
          <a:solidFill>
            <a:srgbClr val="EAF0FA"/>
          </a:solidFill>
          <a:ln w="12700">
            <a:solidFill>
              <a:srgbClr val="D3E0F5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8" name="TextBox 37"/>
          <p:cNvSpPr txBox="1"/>
          <p:nvPr/>
        </p:nvSpPr>
        <p:spPr>
          <a:xfrm>
            <a:off x="4581144" y="4818888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MCP Go SDK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81144" y="5166359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1.6.1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5477255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QA/Document/Knowledge 工具编排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82712" y="4672583"/>
            <a:ext cx="3429000" cy="1298448"/>
          </a:xfrm>
          <a:prstGeom prst="roundRect">
            <a:avLst>
              <a:gd name="adj" fmla="val 4500"/>
            </a:avLst>
          </a:prstGeom>
          <a:solidFill>
            <a:srgbClr val="EAF0FA"/>
          </a:solidFill>
          <a:ln w="12700">
            <a:solidFill>
              <a:srgbClr val="D3E0F5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2" name="TextBox 41"/>
          <p:cNvSpPr txBox="1"/>
          <p:nvPr/>
        </p:nvSpPr>
        <p:spPr>
          <a:xfrm>
            <a:off x="8183880" y="4818888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CI/CD 基础设施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80" y="5166359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5477255"/>
            <a:ext cx="3063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Docker Compose 本地环境 + GitHub Actions 路径过滤流水线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系统架构与技术实现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工程自动化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89136" y="457200"/>
            <a:ext cx="2322575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89136" y="452628"/>
            <a:ext cx="2322575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  项目规范与过程管理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本地一键启动：把三天工程量压缩成一条命令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5543281" cy="4160520"/>
          </a:xfrm>
          <a:prstGeom prst="rect">
            <a:avLst/>
          </a:prstGeom>
          <a:noFill/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94841" y="1783080"/>
            <a:ext cx="4816870" cy="4160520"/>
          </a:xfrm>
          <a:prstGeom prst="roundRect">
            <a:avLst>
              <a:gd name="adj" fmla="val 4500"/>
            </a:avLst>
          </a:prstGeom>
          <a:solidFill>
            <a:srgbClr val="14213D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23441" y="1965960"/>
            <a:ext cx="435967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8A2C"/>
                </a:solidFill>
                <a:latin typeface="Consolas" panose="020B0609020204030204"/>
                <a:ea typeface="Consolas" panose="020B0609020204030204"/>
              </a:rPr>
              <a:t>./scripts/local/start.sh --china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3441" y="2402840"/>
            <a:ext cx="4359670" cy="3291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24000"/>
              </a:lnSpc>
              <a:spcAft>
                <a:spcPts val="130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1" i="0">
                <a:solidFill>
                  <a:srgbClr val="E7ECF6"/>
                </a:solidFill>
                <a:latin typeface="微软雅黑" panose="020B0503020204020204" charset="-122"/>
                <a:ea typeface="微软雅黑" panose="020B0503020204020204" charset="-122"/>
              </a:rPr>
              <a:t>自动准备 Go 工具链与服务二进制</a:t>
            </a:r>
            <a:r>
              <a:rPr sz="1200" b="0" i="0">
                <a:solidFill>
                  <a:srgbClr val="E7ECF6"/>
                </a:solidFill>
                <a:latin typeface="微软雅黑" panose="020B0503020204020204" charset="-122"/>
                <a:ea typeface="微软雅黑" panose="020B0503020204020204" charset="-122"/>
              </a:rPr>
              <a:t>，源码指纹变化时增量重建，未变化则直接复用</a:t>
            </a:r>
          </a:p>
          <a:p>
            <a:pPr>
              <a:lnSpc>
                <a:spcPct val="124000"/>
              </a:lnSpc>
              <a:spcAft>
                <a:spcPts val="130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1" i="0">
                <a:solidFill>
                  <a:srgbClr val="E7ECF6"/>
                </a:solidFill>
                <a:latin typeface="微软雅黑" panose="020B0503020204020204" charset="-122"/>
                <a:ea typeface="微软雅黑" panose="020B0503020204020204" charset="-122"/>
              </a:rPr>
              <a:t>自动检测并准备 Docker 基础设施镜像</a:t>
            </a:r>
            <a:r>
              <a:rPr sz="1200" b="0" i="0">
                <a:solidFill>
                  <a:srgbClr val="E7ECF6"/>
                </a:solidFill>
                <a:latin typeface="微软雅黑" panose="020B0503020204020204" charset="-122"/>
                <a:ea typeface="微软雅黑" panose="020B0503020204020204" charset="-122"/>
              </a:rPr>
              <a:t>（PostgreSQL/Redis/MinIO/Elasticsearch），支持中国大陆镜像源一键切换</a:t>
            </a:r>
          </a:p>
          <a:p>
            <a:pPr>
              <a:lnSpc>
                <a:spcPct val="124000"/>
              </a:lnSpc>
              <a:spcAft>
                <a:spcPts val="130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1" i="0">
                <a:solidFill>
                  <a:srgbClr val="E7ECF6"/>
                </a:solidFill>
                <a:latin typeface="微软雅黑" panose="020B0503020204020204" charset="-122"/>
                <a:ea typeface="微软雅黑" panose="020B0503020204020204" charset="-122"/>
              </a:rPr>
              <a:t>自动同步 Knowledge runtime 的 Python 依赖（uv sync）</a:t>
            </a:r>
            <a:r>
              <a:rPr sz="1200" b="0" i="0">
                <a:solidFill>
                  <a:srgbClr val="E7ECF6"/>
                </a:solidFill>
                <a:latin typeface="微软雅黑" panose="020B0503020204020204" charset="-122"/>
                <a:ea typeface="微软雅黑" panose="020B0503020204020204" charset="-122"/>
              </a:rPr>
              <a:t>，按需下载模型/OCR artifact</a:t>
            </a:r>
          </a:p>
          <a:p>
            <a:pPr>
              <a:lnSpc>
                <a:spcPct val="124000"/>
              </a:lnSpc>
              <a:spcAft>
                <a:spcPts val="130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1" i="0">
                <a:solidFill>
                  <a:srgbClr val="E7ECF6"/>
                </a:solidFill>
                <a:latin typeface="微软雅黑" panose="020B0503020204020204" charset="-122"/>
                <a:ea typeface="微软雅黑" panose="020B0503020204020204" charset="-122"/>
              </a:rPr>
              <a:t>自动完成 migration、demo seed、健康检查</a:t>
            </a:r>
            <a:r>
              <a:rPr sz="1200" b="0" i="0">
                <a:solidFill>
                  <a:srgbClr val="E7ECF6"/>
                </a:solidFill>
                <a:latin typeface="微软雅黑" panose="020B0503020204020204" charset="-122"/>
                <a:ea typeface="微软雅黑" panose="020B0503020204020204" charset="-122"/>
              </a:rPr>
              <a:t>，最终拉起全部 host-run 服务并汇总启动摘要</a:t>
            </a:r>
          </a:p>
          <a:p>
            <a:pPr>
              <a:lnSpc>
                <a:spcPct val="124000"/>
              </a:lnSpc>
              <a:spcAft>
                <a:spcPts val="130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E7ECF6"/>
                </a:solidFill>
                <a:latin typeface="微软雅黑" panose="020B0503020204020204" charset="-122"/>
                <a:ea typeface="微软雅黑" panose="020B0503020204020204" charset="-122"/>
              </a:rPr>
              <a:t>一条命令取代过去繁琐的手动分步启动，为团队联调、测试和演示节省大量重复排障时间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图片 16" descr="系统部署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55" y="1680845"/>
            <a:ext cx="6231255" cy="42856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85953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技术亮点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5129" y="457200"/>
            <a:ext cx="1916582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95129" y="452628"/>
            <a:ext cx="191658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  技术实现质量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五大核心技术能力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777240" y="1783080"/>
            <a:ext cx="1993392" cy="288036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>
            <p:custDataLst>
              <p:tags r:id="rId2"/>
            </p:custDataLst>
          </p:nvPr>
        </p:nvSpPr>
        <p:spPr>
          <a:xfrm>
            <a:off x="996695" y="2011680"/>
            <a:ext cx="512064" cy="512064"/>
          </a:xfrm>
          <a:prstGeom prst="ellipse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996695" y="201168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RAG</a:t>
            </a: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978408" y="2697480"/>
            <a:ext cx="1627632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检索增强生成</a:t>
            </a:r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978408" y="3364992"/>
            <a:ext cx="1627632" cy="2331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文档解析、切片、向量化后经语义检索与重排序，为智能问答和报告生成提供可追溯、可引用的知识上下文，支撑回答与正文的可信度。</a:t>
            </a:r>
          </a:p>
        </p:txBody>
      </p:sp>
      <p:sp>
        <p:nvSpPr>
          <p:cNvPr id="14" name="Rounded Rectangle 13"/>
          <p:cNvSpPr/>
          <p:nvPr>
            <p:custDataLst>
              <p:tags r:id="rId6"/>
            </p:custDataLst>
          </p:nvPr>
        </p:nvSpPr>
        <p:spPr>
          <a:xfrm>
            <a:off x="2919679" y="1783080"/>
            <a:ext cx="1993392" cy="288036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>
            <p:custDataLst>
              <p:tags r:id="rId7"/>
            </p:custDataLst>
          </p:nvPr>
        </p:nvSpPr>
        <p:spPr>
          <a:xfrm>
            <a:off x="3139135" y="2011680"/>
            <a:ext cx="512064" cy="51206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3139135" y="201168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3120847" y="2697480"/>
            <a:ext cx="1627632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ReAct + MCP 工具编排</a:t>
            </a:r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3120847" y="3364992"/>
            <a:ext cx="1627632" cy="2331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QA 服务作为 Agent Host，基于 ReAct 循环在受控工具白名单内迭代调用知识检索等 MCP 工具，替代僵化的固定编排流程。</a:t>
            </a:r>
          </a:p>
        </p:txBody>
      </p:sp>
      <p:sp>
        <p:nvSpPr>
          <p:cNvPr id="19" name="Rounded Rectangle 18"/>
          <p:cNvSpPr/>
          <p:nvPr>
            <p:custDataLst>
              <p:tags r:id="rId11"/>
            </p:custDataLst>
          </p:nvPr>
        </p:nvSpPr>
        <p:spPr>
          <a:xfrm>
            <a:off x="5062118" y="1783080"/>
            <a:ext cx="1993392" cy="288036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>
            <p:custDataLst>
              <p:tags r:id="rId12"/>
            </p:custDataLst>
          </p:nvPr>
        </p:nvSpPr>
        <p:spPr>
          <a:xfrm>
            <a:off x="5281574" y="2011680"/>
            <a:ext cx="512064" cy="512064"/>
          </a:xfrm>
          <a:prstGeom prst="ellipse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>
            <p:custDataLst>
              <p:tags r:id="rId13"/>
            </p:custDataLst>
          </p:nvPr>
        </p:nvSpPr>
        <p:spPr>
          <a:xfrm>
            <a:off x="5281574" y="201168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SSE</a:t>
            </a:r>
          </a:p>
        </p:txBody>
      </p:sp>
      <p:sp>
        <p:nvSpPr>
          <p:cNvPr id="22" name="TextBox 21"/>
          <p:cNvSpPr txBox="1"/>
          <p:nvPr>
            <p:custDataLst>
              <p:tags r:id="rId14"/>
            </p:custDataLst>
          </p:nvPr>
        </p:nvSpPr>
        <p:spPr>
          <a:xfrm>
            <a:off x="5263286" y="2697480"/>
            <a:ext cx="1627632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流式生成体验</a:t>
            </a:r>
          </a:p>
        </p:txBody>
      </p:sp>
      <p:sp>
        <p:nvSpPr>
          <p:cNvPr id="23" name="TextBox 22"/>
          <p:cNvSpPr txBox="1"/>
          <p:nvPr>
            <p:custDataLst>
              <p:tags r:id="rId15"/>
            </p:custDataLst>
          </p:nvPr>
        </p:nvSpPr>
        <p:spPr>
          <a:xfrm>
            <a:off x="5263286" y="3364992"/>
            <a:ext cx="1627632" cy="2331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问答支持逐字增量流式输出，报告支持逐章节流式生成，并配合进度事件与心跳信号，显著降低用户在长任务等待中的焦虑感。</a:t>
            </a:r>
          </a:p>
        </p:txBody>
      </p:sp>
      <p:sp>
        <p:nvSpPr>
          <p:cNvPr id="24" name="Rounded Rectangle 23"/>
          <p:cNvSpPr/>
          <p:nvPr>
            <p:custDataLst>
              <p:tags r:id="rId16"/>
            </p:custDataLst>
          </p:nvPr>
        </p:nvSpPr>
        <p:spPr>
          <a:xfrm>
            <a:off x="7204557" y="1783080"/>
            <a:ext cx="1993392" cy="288036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>
            <p:custDataLst>
              <p:tags r:id="rId17"/>
            </p:custDataLst>
          </p:nvPr>
        </p:nvSpPr>
        <p:spPr>
          <a:xfrm>
            <a:off x="7424013" y="2011680"/>
            <a:ext cx="512064" cy="512064"/>
          </a:xfrm>
          <a:prstGeom prst="ellipse">
            <a:avLst/>
          </a:prstGeom>
          <a:solidFill>
            <a:srgbClr val="2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>
            <p:custDataLst>
              <p:tags r:id="rId18"/>
            </p:custDataLst>
          </p:nvPr>
        </p:nvSpPr>
        <p:spPr>
          <a:xfrm>
            <a:off x="7424013" y="201168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GW</a:t>
            </a:r>
          </a:p>
        </p:txBody>
      </p:sp>
      <p:sp>
        <p:nvSpPr>
          <p:cNvPr id="27" name="TextBox 26"/>
          <p:cNvSpPr txBox="1"/>
          <p:nvPr>
            <p:custDataLst>
              <p:tags r:id="rId19"/>
            </p:custDataLst>
          </p:nvPr>
        </p:nvSpPr>
        <p:spPr>
          <a:xfrm>
            <a:off x="7405725" y="2697480"/>
            <a:ext cx="1627632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AI 调用统一封装</a:t>
            </a:r>
          </a:p>
        </p:txBody>
      </p:sp>
      <p:sp>
        <p:nvSpPr>
          <p:cNvPr id="28" name="TextBox 27"/>
          <p:cNvSpPr txBox="1"/>
          <p:nvPr>
            <p:custDataLst>
              <p:tags r:id="rId20"/>
            </p:custDataLst>
          </p:nvPr>
        </p:nvSpPr>
        <p:spPr>
          <a:xfrm>
            <a:off x="7380605" y="3364865"/>
            <a:ext cx="1674495" cy="2331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AI Gateway 统一封装 OpenAI 兼容的 Chat / Embedding / Rerank 接口与模型 Profile 管理，业务服务无需各自适配供应商差异。</a:t>
            </a:r>
          </a:p>
        </p:txBody>
      </p:sp>
      <p:sp>
        <p:nvSpPr>
          <p:cNvPr id="29" name="Rounded Rectangle 28"/>
          <p:cNvSpPr/>
          <p:nvPr>
            <p:custDataLst>
              <p:tags r:id="rId21"/>
            </p:custDataLst>
          </p:nvPr>
        </p:nvSpPr>
        <p:spPr>
          <a:xfrm>
            <a:off x="9346996" y="1783080"/>
            <a:ext cx="1993392" cy="288036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>
            <p:custDataLst>
              <p:tags r:id="rId22"/>
            </p:custDataLst>
          </p:nvPr>
        </p:nvSpPr>
        <p:spPr>
          <a:xfrm>
            <a:off x="9566452" y="2011680"/>
            <a:ext cx="512064" cy="512064"/>
          </a:xfrm>
          <a:prstGeom prst="ellipse">
            <a:avLst/>
          </a:prstGeom>
          <a:solidFill>
            <a:srgbClr val="6B4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>
            <p:custDataLst>
              <p:tags r:id="rId23"/>
            </p:custDataLst>
          </p:nvPr>
        </p:nvSpPr>
        <p:spPr>
          <a:xfrm>
            <a:off x="9566452" y="201168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Race</a:t>
            </a:r>
          </a:p>
        </p:txBody>
      </p:sp>
      <p:sp>
        <p:nvSpPr>
          <p:cNvPr id="32" name="TextBox 31"/>
          <p:cNvSpPr txBox="1"/>
          <p:nvPr>
            <p:custDataLst>
              <p:tags r:id="rId24"/>
            </p:custDataLst>
          </p:nvPr>
        </p:nvSpPr>
        <p:spPr>
          <a:xfrm>
            <a:off x="9548164" y="2697480"/>
            <a:ext cx="1627632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并发安全验证</a:t>
            </a:r>
          </a:p>
        </p:txBody>
      </p:sp>
      <p:sp>
        <p:nvSpPr>
          <p:cNvPr id="33" name="TextBox 32"/>
          <p:cNvSpPr txBox="1"/>
          <p:nvPr>
            <p:custDataLst>
              <p:tags r:id="rId25"/>
            </p:custDataLst>
          </p:nvPr>
        </p:nvSpPr>
        <p:spPr>
          <a:xfrm>
            <a:off x="9527540" y="3364865"/>
            <a:ext cx="1673860" cy="2331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Go 语言天然并发优势之上，Gateway/QA/Knowledge/Document 并发敏感路径均通过 go test -race 抽样验证，未发现数据竞争。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956048"/>
            <a:ext cx="10634472" cy="896112"/>
          </a:xfrm>
          <a:prstGeom prst="roundRect">
            <a:avLst>
              <a:gd name="adj" fmla="val 4500"/>
            </a:avLst>
          </a:prstGeom>
          <a:solidFill>
            <a:srgbClr val="14213D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51560" y="5074920"/>
            <a:ext cx="101041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技术选型总原则：</a:t>
            </a:r>
            <a:r>
              <a:rPr sz="1230" b="0" i="0">
                <a:solidFill>
                  <a:srgbClr val="E7ECF6"/>
                </a:solidFill>
                <a:latin typeface="微软雅黑" panose="020B0503020204020204" charset="-122"/>
                <a:ea typeface="微软雅黑" panose="020B0503020204020204" charset="-122"/>
              </a:rPr>
              <a:t>检索、推理与调用统一封装、流式反馈可观测、并发路径经真实测试验证 —— 五项能力共同支撑「技术实现质量」评分维度。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系统架构与技术实现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85953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安全设计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5129" y="457200"/>
            <a:ext cx="1916582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95129" y="452628"/>
            <a:ext cx="191658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  技术实现质量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权限、鉴权与密钥管理基线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777240" y="1783080"/>
            <a:ext cx="2578608" cy="41148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>
            <p:custDataLst>
              <p:tags r:id="rId2"/>
            </p:custDataLst>
          </p:nvPr>
        </p:nvSpPr>
        <p:spPr>
          <a:xfrm>
            <a:off x="996695" y="1993392"/>
            <a:ext cx="128016" cy="128016"/>
          </a:xfrm>
          <a:prstGeom prst="ellipse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1234440" y="1912112"/>
            <a:ext cx="193852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身份与鉴权</a:t>
            </a: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996695" y="2395728"/>
            <a:ext cx="2139696" cy="3291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opaque Bearer token（非 JWT），前端不解析 token 内容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auth 服务保存 token hash，不保存明文；Gateway Redis 会话缓存 key 使用 token hash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密码哈希 argon2id：m=65536 KiB、t=3、p=2、salt=16B、key=32B</a:t>
            </a:r>
          </a:p>
        </p:txBody>
      </p:sp>
      <p:sp>
        <p:nvSpPr>
          <p:cNvPr id="13" name="Rounded Rectangle 12"/>
          <p:cNvSpPr/>
          <p:nvPr>
            <p:custDataLst>
              <p:tags r:id="rId5"/>
            </p:custDataLst>
          </p:nvPr>
        </p:nvSpPr>
        <p:spPr>
          <a:xfrm>
            <a:off x="3525012" y="1783080"/>
            <a:ext cx="2578608" cy="41148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>
            <p:custDataLst>
              <p:tags r:id="rId6"/>
            </p:custDataLst>
          </p:nvPr>
        </p:nvSpPr>
        <p:spPr>
          <a:xfrm>
            <a:off x="3744468" y="1993392"/>
            <a:ext cx="128016" cy="128016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3982212" y="1912112"/>
            <a:ext cx="193852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角色与权限</a:t>
            </a: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3744468" y="2395728"/>
            <a:ext cx="2139696" cy="3291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标准用户 / 管理员 / 超级管理员三级角色，权限矩阵按服务维护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角色级 RBAC 覆盖课程场景鉴权需求，多维度组织权限作为后续扩展方向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报告创建、章节生成等写入操作需要 report:write 权限</a:t>
            </a:r>
          </a:p>
        </p:txBody>
      </p:sp>
      <p:sp>
        <p:nvSpPr>
          <p:cNvPr id="17" name="Rounded Rectangle 16"/>
          <p:cNvSpPr/>
          <p:nvPr>
            <p:custDataLst>
              <p:tags r:id="rId9"/>
            </p:custDataLst>
          </p:nvPr>
        </p:nvSpPr>
        <p:spPr>
          <a:xfrm>
            <a:off x="6272783" y="1783080"/>
            <a:ext cx="2578608" cy="41148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>
            <p:custDataLst>
              <p:tags r:id="rId10"/>
            </p:custDataLst>
          </p:nvPr>
        </p:nvSpPr>
        <p:spPr>
          <a:xfrm>
            <a:off x="6492240" y="1993392"/>
            <a:ext cx="128016" cy="128016"/>
          </a:xfrm>
          <a:prstGeom prst="ellipse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6729983" y="1912112"/>
            <a:ext cx="193852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密钥与数据安全</a:t>
            </a: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6492240" y="2395728"/>
            <a:ext cx="2139696" cy="3291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AI Gateway provider API Key 加密存储，指纹用 HMAC-SHA-256 派生，仅用于审计不用于认证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模型密钥、对象存储 key、数据库连接串、prompt 全文不进入日志、响应或指标 label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下载原始文件与导出报告前必须做权限校验，敏感字段不透传前端</a:t>
            </a:r>
          </a:p>
        </p:txBody>
      </p:sp>
      <p:sp>
        <p:nvSpPr>
          <p:cNvPr id="21" name="Rounded Rectangle 20"/>
          <p:cNvSpPr/>
          <p:nvPr>
            <p:custDataLst>
              <p:tags r:id="rId13"/>
            </p:custDataLst>
          </p:nvPr>
        </p:nvSpPr>
        <p:spPr>
          <a:xfrm>
            <a:off x="9020555" y="1783080"/>
            <a:ext cx="2578608" cy="41148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>
            <p:custDataLst>
              <p:tags r:id="rId14"/>
            </p:custDataLst>
          </p:nvPr>
        </p:nvSpPr>
        <p:spPr>
          <a:xfrm>
            <a:off x="9240011" y="1993392"/>
            <a:ext cx="128016" cy="128016"/>
          </a:xfrm>
          <a:prstGeom prst="ellipse">
            <a:avLst/>
          </a:prstGeom>
          <a:solidFill>
            <a:srgbClr val="2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>
            <p:custDataLst>
              <p:tags r:id="rId15"/>
            </p:custDataLst>
          </p:nvPr>
        </p:nvSpPr>
        <p:spPr>
          <a:xfrm>
            <a:off x="9477755" y="1912112"/>
            <a:ext cx="193852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操作安全与留痕</a:t>
            </a:r>
          </a:p>
        </p:txBody>
      </p:sp>
      <p:sp>
        <p:nvSpPr>
          <p:cNvPr id="24" name="TextBox 23"/>
          <p:cNvSpPr txBox="1"/>
          <p:nvPr>
            <p:custDataLst>
              <p:tags r:id="rId16"/>
            </p:custDataLst>
          </p:nvPr>
        </p:nvSpPr>
        <p:spPr>
          <a:xfrm>
            <a:off x="9240011" y="2395728"/>
            <a:ext cx="2139696" cy="32918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2B3A5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删除知识库、文档、模板、报告记录等操作需要二次确认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2B3A5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关键操作（配置变更、任务失败、删除）保留基础排查字段，支撑问题定位与追溯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2B3A5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T-003 专项对 API 响应与日志做敏感信息泄露回归扫描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2B3A5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重要操作已预留接入完整审计日志的扩展能力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系统架构与技术实现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85953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认证流程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48920" y="1009650"/>
            <a:ext cx="1916430" cy="320040"/>
            <a:chOff x="14953" y="713"/>
            <a:chExt cx="3018" cy="504"/>
          </a:xfrm>
        </p:grpSpPr>
        <p:sp>
          <p:nvSpPr>
            <p:cNvPr id="5" name="Rounded Rectangle 4"/>
            <p:cNvSpPr/>
            <p:nvPr/>
          </p:nvSpPr>
          <p:spPr>
            <a:xfrm>
              <a:off x="14953" y="720"/>
              <a:ext cx="3018" cy="490"/>
            </a:xfrm>
            <a:prstGeom prst="roundRect">
              <a:avLst>
                <a:gd name="adj" fmla="val 50000"/>
              </a:avLst>
            </a:prstGeom>
            <a:solidFill>
              <a:srgbClr val="FBF1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953" y="713"/>
              <a:ext cx="3018" cy="5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50" b="1" i="0">
                  <a:solidFill>
                    <a:srgbClr val="C98A2C"/>
                  </a:solidFill>
                  <a:latin typeface="微软雅黑" panose="020B0503020204020204" charset="-122"/>
                  <a:ea typeface="微软雅黑" panose="020B0503020204020204" charset="-122"/>
                </a:rPr>
                <a:t>  技术实现质量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17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:/Users/lenovo/OneDrive/画像/屏幕快照/图/登录认证流程图.png登录认证流程图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2239010" y="236855"/>
            <a:ext cx="8539480" cy="64039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1563624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模块详解 · 知识管理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59798" y="457200"/>
            <a:ext cx="2051913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59798" y="452628"/>
            <a:ext cx="205191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 整体项目完成度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知识管理：从原始文件到可检索知识资产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74064" y="1874519"/>
            <a:ext cx="512064" cy="512064"/>
          </a:xfrm>
          <a:prstGeom prst="ellipse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74064" y="185623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96312"/>
            <a:ext cx="17800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创建知识库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6128" y="2112263"/>
            <a:ext cx="1313687" cy="32004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99815" y="1874519"/>
            <a:ext cx="512064" cy="512064"/>
          </a:xfrm>
          <a:prstGeom prst="ellipse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9815" y="185623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5832" y="2496312"/>
            <a:ext cx="17800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上传文档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2112263"/>
            <a:ext cx="1313687" cy="32004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925568" y="1874519"/>
            <a:ext cx="512064" cy="512064"/>
          </a:xfrm>
          <a:prstGeom prst="ellipse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25568" y="185623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1584" y="2496312"/>
            <a:ext cx="17800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解析/切片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7632" y="2112263"/>
            <a:ext cx="1313687" cy="32004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51320" y="1874519"/>
            <a:ext cx="512064" cy="512064"/>
          </a:xfrm>
          <a:prstGeom prst="ellipse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51320" y="185623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7336" y="2496312"/>
            <a:ext cx="17800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向量化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3384" y="2112263"/>
            <a:ext cx="1313687" cy="32004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77072" y="1874519"/>
            <a:ext cx="512064" cy="512064"/>
          </a:xfrm>
          <a:prstGeom prst="ellipse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77072" y="185623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3087" y="2496312"/>
            <a:ext cx="17800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写入索引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89136" y="2112263"/>
            <a:ext cx="1313687" cy="32004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402824" y="1874519"/>
            <a:ext cx="512064" cy="512064"/>
          </a:xfrm>
          <a:prstGeom prst="ellipse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02824" y="185623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8839" y="2496312"/>
            <a:ext cx="17800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语义检索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246120"/>
            <a:ext cx="5166360" cy="30175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3271" y="34290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核心数据对象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3271" y="3950208"/>
            <a:ext cx="1435607" cy="365760"/>
          </a:xfrm>
          <a:prstGeom prst="roundRect">
            <a:avLst>
              <a:gd name="adj" fmla="val 4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3271" y="3941064"/>
            <a:ext cx="143560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KnowledgeBase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15183" y="3950208"/>
            <a:ext cx="1764792" cy="365760"/>
          </a:xfrm>
          <a:prstGeom prst="roundRect">
            <a:avLst>
              <a:gd name="adj" fmla="val 4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15183" y="3941064"/>
            <a:ext cx="176479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KnowledgeDocument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3271" y="4425696"/>
            <a:ext cx="1435607" cy="365760"/>
          </a:xfrm>
          <a:prstGeom prst="roundRect">
            <a:avLst>
              <a:gd name="adj" fmla="val 4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33271" y="4416552"/>
            <a:ext cx="143560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DocumentChunk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15183" y="4425696"/>
            <a:ext cx="1435607" cy="365760"/>
          </a:xfrm>
          <a:prstGeom prst="roundRect">
            <a:avLst>
              <a:gd name="adj" fmla="val 4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15183" y="4416552"/>
            <a:ext cx="143560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ProcessingJob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1" y="4901184"/>
            <a:ext cx="1682495" cy="365760"/>
          </a:xfrm>
          <a:prstGeom prst="roundRect">
            <a:avLst>
              <a:gd name="adj" fmla="val 4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33271" y="4892040"/>
            <a:ext cx="1682495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RetrievalProfile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862072" y="4901184"/>
            <a:ext cx="2093976" cy="365760"/>
          </a:xfrm>
          <a:prstGeom prst="roundRect">
            <a:avLst>
              <a:gd name="adj" fmla="val 4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62072" y="4892040"/>
            <a:ext cx="209397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ReportSupportMaterial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45352" y="3246120"/>
            <a:ext cx="5166360" cy="30175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01384" y="34290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关键能力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4610" y="3852545"/>
            <a:ext cx="4930775" cy="23774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spcAft>
                <a:spcPts val="700"/>
              </a:spcAft>
            </a:pPr>
            <a:r>
              <a:rPr sz="13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3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支持 PDF/DOCX/PPTX/XLSX/MD/TXT/图片等多格式文档入库</a:t>
            </a:r>
          </a:p>
          <a:p>
            <a:pPr>
              <a:lnSpc>
                <a:spcPct val="150000"/>
              </a:lnSpc>
              <a:spcAft>
                <a:spcPts val="700"/>
              </a:spcAft>
            </a:pPr>
            <a:r>
              <a:rPr sz="13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3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状态 uploaded → parsing → ready 全流程可见，失败可重试</a:t>
            </a:r>
          </a:p>
          <a:p>
            <a:pPr>
              <a:lnSpc>
                <a:spcPct val="150000"/>
              </a:lnSpc>
              <a:spcAft>
                <a:spcPts val="700"/>
              </a:spcAft>
            </a:pPr>
            <a:r>
              <a:rPr sz="13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3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切片留存章节路径与序号；Top K、阈值、重排序参数可配置</a:t>
            </a:r>
          </a:p>
          <a:p>
            <a:pPr>
              <a:lnSpc>
                <a:spcPct val="150000"/>
              </a:lnSpc>
              <a:spcAft>
                <a:spcPts val="700"/>
              </a:spcAft>
            </a:pPr>
            <a:r>
              <a:rPr sz="13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3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检索能力统一供前台检索、问答、报告三方复用</a:t>
            </a:r>
          </a:p>
          <a:p>
            <a:pPr>
              <a:lnSpc>
                <a:spcPct val="150000"/>
              </a:lnSpc>
              <a:spcAft>
                <a:spcPts val="700"/>
              </a:spcAft>
            </a:pPr>
            <a:r>
              <a:rPr sz="13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3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策略变更触发后台重处理，索引版本全程可追溯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三大模块详解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18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1060704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知识处理流程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49250" y="984250"/>
            <a:ext cx="1916430" cy="320040"/>
            <a:chOff x="14953" y="713"/>
            <a:chExt cx="3018" cy="504"/>
          </a:xfrm>
        </p:grpSpPr>
        <p:sp>
          <p:nvSpPr>
            <p:cNvPr id="5" name="Rounded Rectangle 4"/>
            <p:cNvSpPr/>
            <p:nvPr/>
          </p:nvSpPr>
          <p:spPr>
            <a:xfrm>
              <a:off x="14953" y="720"/>
              <a:ext cx="3018" cy="490"/>
            </a:xfrm>
            <a:prstGeom prst="roundRect">
              <a:avLst>
                <a:gd name="adj" fmla="val 50000"/>
              </a:avLst>
            </a:prstGeom>
            <a:solidFill>
              <a:srgbClr val="FBF1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953" y="713"/>
              <a:ext cx="3018" cy="5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50" b="1" i="0">
                  <a:solidFill>
                    <a:srgbClr val="C98A2C"/>
                  </a:solidFill>
                  <a:latin typeface="微软雅黑" panose="020B0503020204020204" charset="-122"/>
                  <a:ea typeface="微软雅黑" panose="020B0503020204020204" charset="-122"/>
                </a:rPr>
                <a:t>  技术实现质量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三大模块详解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:/Users/lenovo/OneDrive/画像/屏幕快照/图/图2-8_知识库文档处理流程图.png图2-8_知识库文档处理流程图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2337435" y="294005"/>
            <a:ext cx="8496935" cy="63728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1563624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知识管理 · 工程亮点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5129" y="457200"/>
            <a:ext cx="1916582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95129" y="452628"/>
            <a:ext cx="191658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技术实现质量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检索引擎与知识工程能力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179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核心技术栈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56231"/>
            <a:ext cx="2304288" cy="329184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851660"/>
            <a:ext cx="2304288" cy="3383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Elasticsearch 8.15.3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856231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27832" y="1851660"/>
            <a:ext cx="2880360" cy="3383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VECTOR / VECTOR_RERANK 双模式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856231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54496" y="1851660"/>
            <a:ext cx="960120" cy="3383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三种切片策略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856231"/>
            <a:ext cx="3264408" cy="329184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60920" y="1851660"/>
            <a:ext cx="3264408" cy="3383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AI Gateway 统一 Embedding/Rerank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258568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253996"/>
            <a:ext cx="1920240" cy="3383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uv 管理 Python 运行时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43784" y="2258568"/>
            <a:ext cx="1344168" cy="329184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43784" y="2253996"/>
            <a:ext cx="1344168" cy="3383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只读 MCP 工具面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825496"/>
            <a:ext cx="5166360" cy="14173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8" name="组合 47"/>
          <p:cNvGrpSpPr/>
          <p:nvPr/>
        </p:nvGrpSpPr>
        <p:grpSpPr>
          <a:xfrm>
            <a:off x="996950" y="2886710"/>
            <a:ext cx="457200" cy="474980"/>
            <a:chOff x="1570" y="4738"/>
            <a:chExt cx="720" cy="748"/>
          </a:xfrm>
        </p:grpSpPr>
        <p:sp>
          <p:nvSpPr>
            <p:cNvPr id="23" name="Oval 22"/>
            <p:cNvSpPr/>
            <p:nvPr/>
          </p:nvSpPr>
          <p:spPr>
            <a:xfrm>
              <a:off x="1570" y="4766"/>
              <a:ext cx="720" cy="720"/>
            </a:xfrm>
            <a:prstGeom prst="ellipse">
              <a:avLst/>
            </a:prstGeom>
            <a:solidFill>
              <a:srgbClr val="2F5AA8"/>
            </a:solidFill>
            <a:ln>
              <a:noFill/>
            </a:ln>
            <a:effectLst>
              <a:outerShdw blurRad="41148" dist="20116" dir="3000000" rotWithShape="0">
                <a:srgbClr val="3A4A66">
                  <a:alpha val="2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70" y="4738"/>
              <a:ext cx="720" cy="7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Q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618488" y="300837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双模式语义检索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5" y="3447288"/>
            <a:ext cx="472744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VECTOR 与 VECTOR_RERANK 两种检索模式可配置，默认 Top K=10、相似度阈值 0.35，兼顾召回率与精确度。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2825496"/>
            <a:ext cx="5166360" cy="14173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9" name="组合 48"/>
          <p:cNvGrpSpPr/>
          <p:nvPr/>
        </p:nvGrpSpPr>
        <p:grpSpPr>
          <a:xfrm>
            <a:off x="6464935" y="2886710"/>
            <a:ext cx="457200" cy="474980"/>
            <a:chOff x="10181" y="4738"/>
            <a:chExt cx="720" cy="748"/>
          </a:xfrm>
        </p:grpSpPr>
        <p:sp>
          <p:nvSpPr>
            <p:cNvPr id="28" name="Oval 27"/>
            <p:cNvSpPr/>
            <p:nvPr/>
          </p:nvSpPr>
          <p:spPr>
            <a:xfrm>
              <a:off x="10181" y="4766"/>
              <a:ext cx="720" cy="720"/>
            </a:xfrm>
            <a:prstGeom prst="ellipse">
              <a:avLst/>
            </a:prstGeom>
            <a:solidFill>
              <a:srgbClr val="2F5AA8"/>
            </a:solidFill>
            <a:ln>
              <a:noFill/>
            </a:ln>
            <a:effectLst>
              <a:outerShdw blurRad="41148" dist="20116" dir="3000000" rotWithShape="0">
                <a:srgbClr val="3A4A66">
                  <a:alpha val="2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181" y="4738"/>
              <a:ext cx="720" cy="7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C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7086600" y="300837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三种切片策略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3447288"/>
            <a:ext cx="472744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SEMANTIC_TEXT（默认，1600 字/200 重叠）、HEADING（标题层级感知）、FIXED_SIZE，按文档场景灵活选择。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425696"/>
            <a:ext cx="5166360" cy="14173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0" name="组合 49"/>
          <p:cNvGrpSpPr/>
          <p:nvPr/>
        </p:nvGrpSpPr>
        <p:grpSpPr>
          <a:xfrm>
            <a:off x="996950" y="4486910"/>
            <a:ext cx="457200" cy="474980"/>
            <a:chOff x="1570" y="7258"/>
            <a:chExt cx="720" cy="748"/>
          </a:xfrm>
        </p:grpSpPr>
        <p:sp>
          <p:nvSpPr>
            <p:cNvPr id="33" name="Oval 32"/>
            <p:cNvSpPr/>
            <p:nvPr/>
          </p:nvSpPr>
          <p:spPr>
            <a:xfrm>
              <a:off x="1570" y="7286"/>
              <a:ext cx="720" cy="720"/>
            </a:xfrm>
            <a:prstGeom prst="ellipse">
              <a:avLst/>
            </a:prstGeom>
            <a:solidFill>
              <a:srgbClr val="2F5AA8"/>
            </a:solidFill>
            <a:ln>
              <a:noFill/>
            </a:ln>
            <a:effectLst>
              <a:outerShdw blurRad="41148" dist="20116" dir="3000000" rotWithShape="0">
                <a:srgbClr val="3A4A66">
                  <a:alpha val="2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570" y="7258"/>
              <a:ext cx="720" cy="7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K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1618488" y="460857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零密钥暴露设计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5" y="5047488"/>
            <a:ext cx="472744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3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Knowledge 服务自身不持有任何 Provider 密钥，Embedding/Rerank 统一经 AI Gateway 内部接口代理调用。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5352" y="4425696"/>
            <a:ext cx="5166360" cy="14173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1" name="组合 50"/>
          <p:cNvGrpSpPr/>
          <p:nvPr/>
        </p:nvGrpSpPr>
        <p:grpSpPr>
          <a:xfrm>
            <a:off x="6464935" y="4486910"/>
            <a:ext cx="457200" cy="474980"/>
            <a:chOff x="10181" y="7258"/>
            <a:chExt cx="720" cy="748"/>
          </a:xfrm>
        </p:grpSpPr>
        <p:sp>
          <p:nvSpPr>
            <p:cNvPr id="38" name="Oval 37"/>
            <p:cNvSpPr/>
            <p:nvPr/>
          </p:nvSpPr>
          <p:spPr>
            <a:xfrm>
              <a:off x="10181" y="7286"/>
              <a:ext cx="720" cy="720"/>
            </a:xfrm>
            <a:prstGeom prst="ellipse">
              <a:avLst/>
            </a:prstGeom>
            <a:solidFill>
              <a:srgbClr val="2F5AA8"/>
            </a:solidFill>
            <a:ln>
              <a:noFill/>
            </a:ln>
            <a:effectLst>
              <a:outerShdw blurRad="41148" dist="20116" dir="3000000" rotWithShape="0">
                <a:srgbClr val="3A4A66">
                  <a:alpha val="2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181" y="7258"/>
              <a:ext cx="720" cy="7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M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7086600" y="460857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只读 MCP 工具面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64808" y="5047488"/>
            <a:ext cx="472744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3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search / list_documents / get_document / get_chunk 四个只读工具，Streamable HTTP + Token 鉴权对外暴露。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777240" y="5976620"/>
            <a:ext cx="10634345" cy="401955"/>
            <a:chOff x="1224" y="9556"/>
            <a:chExt cx="16747" cy="633"/>
          </a:xfrm>
        </p:grpSpPr>
        <p:sp>
          <p:nvSpPr>
            <p:cNvPr id="42" name="Rounded Rectangle 41"/>
            <p:cNvSpPr/>
            <p:nvPr/>
          </p:nvSpPr>
          <p:spPr>
            <a:xfrm>
              <a:off x="1224" y="9556"/>
              <a:ext cx="16747" cy="633"/>
            </a:xfrm>
            <a:prstGeom prst="roundRect">
              <a:avLst>
                <a:gd name="adj" fmla="val 4500"/>
              </a:avLst>
            </a:prstGeom>
            <a:solidFill>
              <a:srgbClr val="14213D"/>
            </a:solidFill>
            <a:ln w="12700">
              <a:solidFill>
                <a:srgbClr val="E1E6EF"/>
              </a:solidFill>
            </a:ln>
            <a:effectLst>
              <a:outerShdw blurRad="54864" dist="27432" dir="3000000" rotWithShape="0">
                <a:srgbClr val="3A4A66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627" y="9581"/>
              <a:ext cx="15984" cy="5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C98A2C"/>
                  </a:solidFill>
                  <a:latin typeface="微软雅黑" panose="020B0503020204020204" charset="-122"/>
                  <a:ea typeface="微软雅黑" panose="020B0503020204020204" charset="-122"/>
                </a:rPr>
                <a:t>全程可追溯：</a:t>
              </a:r>
              <a:r>
                <a:rPr sz="1130" b="0" i="0">
                  <a:solidFill>
                    <a:srgbClr val="E7ECF6"/>
                  </a:solidFill>
                  <a:latin typeface="微软雅黑" panose="020B0503020204020204" charset="-122"/>
                  <a:ea typeface="微软雅黑" panose="020B0503020204020204" charset="-122"/>
                </a:rPr>
                <a:t>文档状态 uploaded → parsing → chunking → embedding → ready/failed 全流程可见，失败可定位、可重试。</a:t>
              </a: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三大模块详解与加分项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文本框 46"/>
          <p:cNvSpPr txBox="1"/>
          <p:nvPr/>
        </p:nvSpPr>
        <p:spPr>
          <a:xfrm>
            <a:off x="12154535" y="-140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1563624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模块详解 · 智能问答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59798" y="457200"/>
            <a:ext cx="2051913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59798" y="452628"/>
            <a:ext cx="205191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  整体项目完成度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智能问答：Agent Host 驱动的检索增强对话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74064" y="1874519"/>
            <a:ext cx="512064" cy="51206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74064" y="185623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96312"/>
            <a:ext cx="17800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创建会话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6128" y="2112263"/>
            <a:ext cx="1313687" cy="32004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99815" y="1874519"/>
            <a:ext cx="512064" cy="51206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9815" y="185623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5832" y="2496312"/>
            <a:ext cx="17800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识别意图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2112263"/>
            <a:ext cx="1313687" cy="32004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925568" y="1874519"/>
            <a:ext cx="512064" cy="51206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25568" y="185623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1584" y="2496312"/>
            <a:ext cx="17800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MCP 检索工具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7632" y="2112263"/>
            <a:ext cx="1313687" cy="32004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51320" y="1874519"/>
            <a:ext cx="512064" cy="51206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51320" y="185623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7336" y="2496312"/>
            <a:ext cx="17800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LLM 生成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3384" y="2112263"/>
            <a:ext cx="1313687" cy="32004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77072" y="1874519"/>
            <a:ext cx="512064" cy="51206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77072" y="185623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3087" y="2496312"/>
            <a:ext cx="17800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SSE 流式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89136" y="2112263"/>
            <a:ext cx="1313687" cy="32004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402824" y="1874519"/>
            <a:ext cx="512064" cy="51206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02824" y="185623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8839" y="2496312"/>
            <a:ext cx="17800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引用/统计保存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246120"/>
            <a:ext cx="5166360" cy="30175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3271" y="34290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核心数据对象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3271" y="3914648"/>
            <a:ext cx="1353312" cy="365760"/>
          </a:xfrm>
          <a:prstGeom prst="roundRect">
            <a:avLst>
              <a:gd name="adj" fmla="val 4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3271" y="3905504"/>
            <a:ext cx="135331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Conversation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32887" y="3914648"/>
            <a:ext cx="941832" cy="365760"/>
          </a:xfrm>
          <a:prstGeom prst="roundRect">
            <a:avLst>
              <a:gd name="adj" fmla="val 4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32887" y="3905504"/>
            <a:ext cx="94183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Message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21023" y="3874008"/>
            <a:ext cx="1024128" cy="365760"/>
          </a:xfrm>
          <a:prstGeom prst="roundRect">
            <a:avLst>
              <a:gd name="adj" fmla="val 4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21023" y="3905504"/>
            <a:ext cx="102412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Citation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33271" y="4390136"/>
            <a:ext cx="1435607" cy="365760"/>
          </a:xfrm>
          <a:prstGeom prst="roundRect">
            <a:avLst>
              <a:gd name="adj" fmla="val 4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3271" y="4380992"/>
            <a:ext cx="143560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ReasoningStep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15183" y="4390136"/>
            <a:ext cx="1435607" cy="365760"/>
          </a:xfrm>
          <a:prstGeom prst="roundRect">
            <a:avLst>
              <a:gd name="adj" fmla="val 4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15183" y="4380992"/>
            <a:ext cx="143560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RetrievalTest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45352" y="3246120"/>
            <a:ext cx="5166360" cy="30175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01384" y="34290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关键能力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0330" y="3827145"/>
            <a:ext cx="4915535" cy="23774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spcAft>
                <a:spcPts val="700"/>
              </a:spcAft>
            </a:pPr>
            <a:r>
              <a:rPr sz="13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3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先识别知识问答/一般对话/报告生成/预留数据分析四类意图</a:t>
            </a:r>
          </a:p>
          <a:p>
            <a:pPr>
              <a:lnSpc>
                <a:spcPct val="150000"/>
              </a:lnSpc>
              <a:spcAft>
                <a:spcPts val="700"/>
              </a:spcAft>
            </a:pPr>
            <a:r>
              <a:rPr sz="13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3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Agent/ReAct 循环受控选择工具、观察结果并继续生成</a:t>
            </a:r>
          </a:p>
          <a:p>
            <a:pPr>
              <a:lnSpc>
                <a:spcPct val="150000"/>
              </a:lnSpc>
              <a:spcAft>
                <a:spcPts val="700"/>
              </a:spcAft>
            </a:pPr>
            <a:r>
              <a:rPr sz="13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3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MCP Client 编排 search_knowledge 等工具，白名单可配置</a:t>
            </a:r>
          </a:p>
          <a:p>
            <a:pPr>
              <a:lnSpc>
                <a:spcPct val="150000"/>
              </a:lnSpc>
              <a:spcAft>
                <a:spcPts val="700"/>
              </a:spcAft>
            </a:pPr>
            <a:r>
              <a:rPr sz="13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3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回答支持 SSE 流式与非流式两种模式</a:t>
            </a:r>
          </a:p>
          <a:p>
            <a:pPr>
              <a:lnSpc>
                <a:spcPct val="150000"/>
              </a:lnSpc>
              <a:spcAft>
                <a:spcPts val="700"/>
              </a:spcAft>
            </a:pPr>
            <a:r>
              <a:rPr sz="13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3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引用溯源保存章节路径与相关性分数，支持原文追溯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三大模块详解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21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1060704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问答处理流程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49250" y="978535"/>
            <a:ext cx="1916430" cy="320040"/>
            <a:chOff x="14953" y="713"/>
            <a:chExt cx="3018" cy="504"/>
          </a:xfrm>
        </p:grpSpPr>
        <p:sp>
          <p:nvSpPr>
            <p:cNvPr id="5" name="Rounded Rectangle 4"/>
            <p:cNvSpPr/>
            <p:nvPr/>
          </p:nvSpPr>
          <p:spPr>
            <a:xfrm>
              <a:off x="14953" y="720"/>
              <a:ext cx="3018" cy="490"/>
            </a:xfrm>
            <a:prstGeom prst="roundRect">
              <a:avLst>
                <a:gd name="adj" fmla="val 50000"/>
              </a:avLst>
            </a:prstGeom>
            <a:solidFill>
              <a:srgbClr val="FBF1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953" y="713"/>
              <a:ext cx="3018" cy="5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50" b="1" i="0">
                  <a:solidFill>
                    <a:srgbClr val="C98A2C"/>
                  </a:solidFill>
                  <a:latin typeface="微软雅黑" panose="020B0503020204020204" charset="-122"/>
                  <a:ea typeface="微软雅黑" panose="020B0503020204020204" charset="-122"/>
                </a:rPr>
                <a:t>  技术实现质量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三大模块详解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:/Users/lenovo/OneDrive/画像/屏幕快照/图/10_智能问答逻辑流程图.png10_智能问答逻辑流程图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2458085" y="254635"/>
            <a:ext cx="8971915" cy="63480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1563624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智能问答 · 工程亮点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5129" y="457200"/>
            <a:ext cx="1916582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95129" y="452628"/>
            <a:ext cx="191658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技术实现质量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Agent 编排与流式回答能力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179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核心技术栈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56231"/>
            <a:ext cx="1440180" cy="329184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851660"/>
            <a:ext cx="1440180" cy="3383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手写 ReAct 循环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63724" y="1856231"/>
            <a:ext cx="2400300" cy="329184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63724" y="1851660"/>
            <a:ext cx="2400300" cy="3383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MCP 工具白名单 + Schema 校验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10328" y="1856231"/>
            <a:ext cx="3168396" cy="329184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10328" y="1851660"/>
            <a:ext cx="3168396" cy="3383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SSE 流式（fetch+AbortController）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5028" y="1856231"/>
            <a:ext cx="1056132" cy="329184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5028" y="1851660"/>
            <a:ext cx="1056132" cy="3383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9 种事件类型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27464" y="1856231"/>
            <a:ext cx="1248156" cy="329184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27464" y="1851660"/>
            <a:ext cx="1248156" cy="3383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7 种终止状态归因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258695"/>
            <a:ext cx="1439545" cy="328930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6950" y="2274316"/>
            <a:ext cx="1056132" cy="3383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引用快照持久化</a:t>
            </a:r>
          </a:p>
        </p:txBody>
      </p:sp>
      <p:sp>
        <p:nvSpPr>
          <p:cNvPr id="22" name="Rounded Rectangle 21"/>
          <p:cNvSpPr/>
          <p:nvPr>
            <p:custDataLst>
              <p:tags r:id="rId1"/>
            </p:custDataLst>
          </p:nvPr>
        </p:nvSpPr>
        <p:spPr>
          <a:xfrm>
            <a:off x="777240" y="2825496"/>
            <a:ext cx="5166360" cy="14173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7" name="组合 46"/>
          <p:cNvGrpSpPr/>
          <p:nvPr>
            <p:custDataLst>
              <p:tags r:id="rId2"/>
            </p:custDataLst>
          </p:nvPr>
        </p:nvGrpSpPr>
        <p:grpSpPr>
          <a:xfrm>
            <a:off x="996950" y="2952750"/>
            <a:ext cx="457200" cy="474980"/>
            <a:chOff x="1570" y="4738"/>
            <a:chExt cx="720" cy="748"/>
          </a:xfrm>
        </p:grpSpPr>
        <p:sp>
          <p:nvSpPr>
            <p:cNvPr id="23" name="Oval 22"/>
            <p:cNvSpPr/>
            <p:nvPr>
              <p:custDataLst>
                <p:tags r:id="rId21"/>
              </p:custDataLst>
            </p:nvPr>
          </p:nvSpPr>
          <p:spPr>
            <a:xfrm>
              <a:off x="1570" y="4766"/>
              <a:ext cx="720" cy="720"/>
            </a:xfrm>
            <a:prstGeom prst="ellipse">
              <a:avLst/>
            </a:prstGeom>
            <a:solidFill>
              <a:srgbClr val="2E7D5B"/>
            </a:solidFill>
            <a:ln>
              <a:noFill/>
            </a:ln>
            <a:effectLst>
              <a:outerShdw blurRad="41148" dist="20116" dir="3000000" rotWithShape="0">
                <a:srgbClr val="3A4A66">
                  <a:alpha val="2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>
              <p:custDataLst>
                <p:tags r:id="rId22"/>
              </p:custDataLst>
            </p:nvPr>
          </p:nvSpPr>
          <p:spPr>
            <a:xfrm>
              <a:off x="1570" y="4738"/>
              <a:ext cx="720" cy="7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R</a:t>
              </a:r>
            </a:p>
          </p:txBody>
        </p:sp>
      </p:grpSp>
      <p:sp>
        <p:nvSpPr>
          <p:cNvPr id="25" name="TextBox 24"/>
          <p:cNvSpPr txBox="1"/>
          <p:nvPr>
            <p:custDataLst>
              <p:tags r:id="rId3"/>
            </p:custDataLst>
          </p:nvPr>
        </p:nvSpPr>
        <p:spPr>
          <a:xfrm>
            <a:off x="1618488" y="300837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自研 ReAct 循环</a:t>
            </a:r>
          </a:p>
        </p:txBody>
      </p:sp>
      <p:sp>
        <p:nvSpPr>
          <p:cNvPr id="26" name="TextBox 25"/>
          <p:cNvSpPr txBox="1"/>
          <p:nvPr>
            <p:custDataLst>
              <p:tags r:id="rId4"/>
            </p:custDataLst>
          </p:nvPr>
        </p:nvSpPr>
        <p:spPr>
          <a:xfrm>
            <a:off x="996695" y="3447288"/>
            <a:ext cx="472744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不依赖 LangChain：每轮显式调用 Chat Completions → 工具调用 → 观察结果 → 继续或终止，迭代次数可配置（1-10）。</a:t>
            </a:r>
          </a:p>
        </p:txBody>
      </p:sp>
      <p:sp>
        <p:nvSpPr>
          <p:cNvPr id="27" name="Rounded Rectangle 26"/>
          <p:cNvSpPr/>
          <p:nvPr>
            <p:custDataLst>
              <p:tags r:id="rId5"/>
            </p:custDataLst>
          </p:nvPr>
        </p:nvSpPr>
        <p:spPr>
          <a:xfrm>
            <a:off x="6245352" y="2825496"/>
            <a:ext cx="5166360" cy="14173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8" name="组合 47"/>
          <p:cNvGrpSpPr/>
          <p:nvPr>
            <p:custDataLst>
              <p:tags r:id="rId6"/>
            </p:custDataLst>
          </p:nvPr>
        </p:nvGrpSpPr>
        <p:grpSpPr>
          <a:xfrm>
            <a:off x="6464808" y="2960624"/>
            <a:ext cx="457327" cy="464566"/>
            <a:chOff x="10181" y="4766"/>
            <a:chExt cx="720" cy="732"/>
          </a:xfrm>
        </p:grpSpPr>
        <p:sp>
          <p:nvSpPr>
            <p:cNvPr id="28" name="Oval 27"/>
            <p:cNvSpPr/>
            <p:nvPr>
              <p:custDataLst>
                <p:tags r:id="rId19"/>
              </p:custDataLst>
            </p:nvPr>
          </p:nvSpPr>
          <p:spPr>
            <a:xfrm>
              <a:off x="10181" y="4766"/>
              <a:ext cx="720" cy="720"/>
            </a:xfrm>
            <a:prstGeom prst="ellipse">
              <a:avLst/>
            </a:prstGeom>
            <a:solidFill>
              <a:srgbClr val="2E7D5B"/>
            </a:solidFill>
            <a:ln>
              <a:noFill/>
            </a:ln>
            <a:effectLst>
              <a:outerShdw blurRad="41148" dist="20116" dir="3000000" rotWithShape="0">
                <a:srgbClr val="3A4A66">
                  <a:alpha val="24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>
              <p:custDataLst>
                <p:tags r:id="rId20"/>
              </p:custDataLst>
            </p:nvPr>
          </p:nvSpPr>
          <p:spPr>
            <a:xfrm>
              <a:off x="10181" y="4778"/>
              <a:ext cx="720" cy="7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W</a:t>
              </a:r>
            </a:p>
          </p:txBody>
        </p:sp>
      </p:grpSp>
      <p:sp>
        <p:nvSpPr>
          <p:cNvPr id="30" name="TextBox 29"/>
          <p:cNvSpPr txBox="1"/>
          <p:nvPr>
            <p:custDataLst>
              <p:tags r:id="rId7"/>
            </p:custDataLst>
          </p:nvPr>
        </p:nvSpPr>
        <p:spPr>
          <a:xfrm>
            <a:off x="7086600" y="300837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受控工具白名单</a:t>
            </a:r>
          </a:p>
        </p:txBody>
      </p:sp>
      <p:sp>
        <p:nvSpPr>
          <p:cNvPr id="31" name="TextBox 30"/>
          <p:cNvSpPr txBox="1"/>
          <p:nvPr>
            <p:custDataLst>
              <p:tags r:id="rId8"/>
            </p:custDataLst>
          </p:nvPr>
        </p:nvSpPr>
        <p:spPr>
          <a:xfrm>
            <a:off x="6464808" y="3447288"/>
            <a:ext cx="472744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enabled_tool_names_json 配置 + Policy 引擎校验调用参数，杜绝越权或格式错误的工具调用。</a:t>
            </a:r>
          </a:p>
        </p:txBody>
      </p:sp>
      <p:sp>
        <p:nvSpPr>
          <p:cNvPr id="32" name="Rounded Rectangle 31"/>
          <p:cNvSpPr/>
          <p:nvPr>
            <p:custDataLst>
              <p:tags r:id="rId9"/>
            </p:custDataLst>
          </p:nvPr>
        </p:nvSpPr>
        <p:spPr>
          <a:xfrm>
            <a:off x="777240" y="4425696"/>
            <a:ext cx="5166360" cy="14173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>
            <p:custDataLst>
              <p:tags r:id="rId10"/>
            </p:custDataLst>
          </p:nvPr>
        </p:nvSpPr>
        <p:spPr>
          <a:xfrm>
            <a:off x="996695" y="4517644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>
            <a:outerShdw blurRad="41148" dist="20116" dir="3000000" rotWithShape="0">
              <a:srgbClr val="3A4A6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>
            <p:custDataLst>
              <p:tags r:id="rId11"/>
            </p:custDataLst>
          </p:nvPr>
        </p:nvSpPr>
        <p:spPr>
          <a:xfrm>
            <a:off x="996695" y="451332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</a:p>
        </p:txBody>
      </p:sp>
      <p:sp>
        <p:nvSpPr>
          <p:cNvPr id="35" name="TextBox 34"/>
          <p:cNvSpPr txBox="1"/>
          <p:nvPr>
            <p:custDataLst>
              <p:tags r:id="rId12"/>
            </p:custDataLst>
          </p:nvPr>
        </p:nvSpPr>
        <p:spPr>
          <a:xfrm>
            <a:off x="1618488" y="460857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真实环境验证</a:t>
            </a:r>
          </a:p>
        </p:txBody>
      </p:sp>
      <p:sp>
        <p:nvSpPr>
          <p:cNvPr id="36" name="TextBox 35"/>
          <p:cNvSpPr txBox="1"/>
          <p:nvPr>
            <p:custDataLst>
              <p:tags r:id="rId13"/>
            </p:custDataLst>
          </p:nvPr>
        </p:nvSpPr>
        <p:spPr>
          <a:xfrm>
            <a:off x="996695" y="5047488"/>
            <a:ext cx="472744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2026-07-03 真实 provider 环境下验证问答全链路，发现并转化 2 个真实缺陷（#604 / #605）。</a:t>
            </a:r>
          </a:p>
        </p:txBody>
      </p:sp>
      <p:sp>
        <p:nvSpPr>
          <p:cNvPr id="37" name="Rounded Rectangle 36"/>
          <p:cNvSpPr/>
          <p:nvPr>
            <p:custDataLst>
              <p:tags r:id="rId14"/>
            </p:custDataLst>
          </p:nvPr>
        </p:nvSpPr>
        <p:spPr>
          <a:xfrm>
            <a:off x="6245352" y="4425696"/>
            <a:ext cx="5166360" cy="14173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>
            <p:custDataLst>
              <p:tags r:id="rId15"/>
            </p:custDataLst>
          </p:nvPr>
        </p:nvSpPr>
        <p:spPr>
          <a:xfrm>
            <a:off x="6464808" y="4494784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>
            <a:outerShdw blurRad="41148" dist="20116" dir="3000000" rotWithShape="0">
              <a:srgbClr val="3A4A6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>
            <p:custDataLst>
              <p:tags r:id="rId16"/>
            </p:custDataLst>
          </p:nvPr>
        </p:nvSpPr>
        <p:spPr>
          <a:xfrm>
            <a:off x="6464808" y="44968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</a:t>
            </a:r>
          </a:p>
        </p:txBody>
      </p:sp>
      <p:sp>
        <p:nvSpPr>
          <p:cNvPr id="40" name="TextBox 39"/>
          <p:cNvSpPr txBox="1"/>
          <p:nvPr>
            <p:custDataLst>
              <p:tags r:id="rId17"/>
            </p:custDataLst>
          </p:nvPr>
        </p:nvSpPr>
        <p:spPr>
          <a:xfrm>
            <a:off x="7086600" y="460857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细粒度终止归因</a:t>
            </a:r>
          </a:p>
        </p:txBody>
      </p:sp>
      <p:sp>
        <p:nvSpPr>
          <p:cNvPr id="41" name="TextBox 40"/>
          <p:cNvSpPr txBox="1"/>
          <p:nvPr>
            <p:custDataLst>
              <p:tags r:id="rId18"/>
            </p:custDataLst>
          </p:nvPr>
        </p:nvSpPr>
        <p:spPr>
          <a:xfrm>
            <a:off x="6464808" y="5047488"/>
            <a:ext cx="472744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completed / max_iterations / timeout / cancelled / tool_error / model_error / policy_denied，问题定位不靠猜。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6007607"/>
            <a:ext cx="10634472" cy="502920"/>
          </a:xfrm>
          <a:prstGeom prst="roundRect">
            <a:avLst>
              <a:gd name="adj" fmla="val 4500"/>
            </a:avLst>
          </a:prstGeom>
          <a:solidFill>
            <a:srgbClr val="14213D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33271" y="6099047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全链路留痕：</a:t>
            </a:r>
            <a:r>
              <a:rPr sz="1130" b="0" i="0">
                <a:solidFill>
                  <a:srgbClr val="E7ECF6"/>
                </a:solidFill>
                <a:latin typeface="微软雅黑" panose="020B0503020204020204" charset="-122"/>
                <a:ea typeface="微软雅黑" panose="020B0503020204020204" charset="-122"/>
              </a:rPr>
              <a:t>SSE 事件覆盖 message.created 到 answer.completed 全过程，引用快照保留 char 级定位信息，可逐条追溯。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三大模块详解与加分项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23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1563624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模块详解 · 报告生成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59798" y="457200"/>
            <a:ext cx="2051913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59798" y="452628"/>
            <a:ext cx="205191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 整体项目完成度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报告生成：模板驱动的专业报告自动化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74064" y="1874519"/>
            <a:ext cx="512064" cy="512064"/>
          </a:xfrm>
          <a:prstGeom prst="ellipse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74064" y="185623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96312"/>
            <a:ext cx="17800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选择报告类型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86128" y="2112263"/>
            <a:ext cx="1313687" cy="32004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99815" y="1874519"/>
            <a:ext cx="512064" cy="512064"/>
          </a:xfrm>
          <a:prstGeom prst="ellipse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99815" y="185623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5832" y="2496312"/>
            <a:ext cx="17800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生成大纲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2112263"/>
            <a:ext cx="1313687" cy="32004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925568" y="1874519"/>
            <a:ext cx="512064" cy="512064"/>
          </a:xfrm>
          <a:prstGeom prst="ellipse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25568" y="185623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1584" y="2496312"/>
            <a:ext cx="17800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编辑大纲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7632" y="2112263"/>
            <a:ext cx="1313687" cy="32004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51320" y="1874519"/>
            <a:ext cx="512064" cy="512064"/>
          </a:xfrm>
          <a:prstGeom prst="ellipse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51320" y="185623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17336" y="2496312"/>
            <a:ext cx="17800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章节流式生成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3384" y="2112263"/>
            <a:ext cx="1313687" cy="32004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77072" y="1874519"/>
            <a:ext cx="512064" cy="512064"/>
          </a:xfrm>
          <a:prstGeom prst="ellipse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77072" y="185623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3087" y="2496312"/>
            <a:ext cx="17800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在线编辑/重生成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89136" y="2112263"/>
            <a:ext cx="1313687" cy="32004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402824" y="1874519"/>
            <a:ext cx="512064" cy="512064"/>
          </a:xfrm>
          <a:prstGeom prst="ellipse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02824" y="185623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8839" y="2496312"/>
            <a:ext cx="17800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DOCX 导出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246120"/>
            <a:ext cx="5166360" cy="30175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3271" y="34290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核心数据对象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3271" y="3914648"/>
            <a:ext cx="1517904" cy="365760"/>
          </a:xfrm>
          <a:prstGeom prst="roundRect">
            <a:avLst>
              <a:gd name="adj" fmla="val 4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3271" y="3905504"/>
            <a:ext cx="1517904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ReportTemplate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3914648"/>
            <a:ext cx="2093976" cy="365760"/>
          </a:xfrm>
          <a:prstGeom prst="roundRect">
            <a:avLst>
              <a:gd name="adj" fmla="val 4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97480" y="3905504"/>
            <a:ext cx="209397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ReportSupportMaterial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3271" y="4390136"/>
            <a:ext cx="859536" cy="365760"/>
          </a:xfrm>
          <a:prstGeom prst="roundRect">
            <a:avLst>
              <a:gd name="adj" fmla="val 4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33271" y="4380992"/>
            <a:ext cx="85953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Report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39112" y="4390136"/>
            <a:ext cx="1435607" cy="365760"/>
          </a:xfrm>
          <a:prstGeom prst="roundRect">
            <a:avLst>
              <a:gd name="adj" fmla="val 4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039112" y="4380992"/>
            <a:ext cx="143560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ReportOutline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21024" y="4390136"/>
            <a:ext cx="1435607" cy="365760"/>
          </a:xfrm>
          <a:prstGeom prst="roundRect">
            <a:avLst>
              <a:gd name="adj" fmla="val 4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21024" y="4380992"/>
            <a:ext cx="1435607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ReportSection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3271" y="4865624"/>
            <a:ext cx="1353312" cy="365760"/>
          </a:xfrm>
          <a:prstGeom prst="roundRect">
            <a:avLst>
              <a:gd name="adj" fmla="val 4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33271" y="4856480"/>
            <a:ext cx="135331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ReportExport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45352" y="3246120"/>
            <a:ext cx="5166360" cy="30175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01384" y="34290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关键能力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5410" y="3822065"/>
            <a:ext cx="4883150" cy="23774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spcAft>
                <a:spcPts val="700"/>
              </a:spcAft>
            </a:pPr>
            <a:r>
              <a:rPr sz="13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3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聚焦迎峰度夏检查报告、煤库存审计报告两类电力行业高频报告场景</a:t>
            </a:r>
          </a:p>
          <a:p>
            <a:pPr>
              <a:lnSpc>
                <a:spcPct val="150000"/>
              </a:lnSpc>
              <a:spcAft>
                <a:spcPts val="700"/>
              </a:spcAft>
            </a:pPr>
            <a:r>
              <a:rPr sz="13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3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大纲以模板结构配置为权威，支持增删排序并自动重新编号</a:t>
            </a:r>
          </a:p>
          <a:p>
            <a:pPr>
              <a:lnSpc>
                <a:spcPct val="150000"/>
              </a:lnSpc>
              <a:spcAft>
                <a:spcPts val="700"/>
              </a:spcAft>
            </a:pPr>
            <a:r>
              <a:rPr sz="13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3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逐章节流式生成正文，支持表格/图片引用与进度展示</a:t>
            </a:r>
          </a:p>
          <a:p>
            <a:pPr>
              <a:lnSpc>
                <a:spcPct val="150000"/>
              </a:lnSpc>
              <a:spcAft>
                <a:spcPts val="700"/>
              </a:spcAft>
            </a:pPr>
            <a:r>
              <a:rPr sz="13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3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章节支持在线编辑与单章重新生成（P2），以最终编辑稿为准</a:t>
            </a:r>
          </a:p>
          <a:p>
            <a:pPr>
              <a:lnSpc>
                <a:spcPct val="150000"/>
              </a:lnSpc>
              <a:spcAft>
                <a:spcPts val="700"/>
              </a:spcAft>
            </a:pPr>
            <a:r>
              <a:rPr sz="13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3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统一样式与全局编号生成 DOCX，支持免调用 AI 的重新导出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三大模块详解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1060704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1060704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报告生成流程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49250" y="932815"/>
            <a:ext cx="1916430" cy="320040"/>
            <a:chOff x="14953" y="713"/>
            <a:chExt cx="3018" cy="504"/>
          </a:xfrm>
        </p:grpSpPr>
        <p:sp>
          <p:nvSpPr>
            <p:cNvPr id="5" name="Rounded Rectangle 4"/>
            <p:cNvSpPr/>
            <p:nvPr/>
          </p:nvSpPr>
          <p:spPr>
            <a:xfrm>
              <a:off x="14953" y="720"/>
              <a:ext cx="3018" cy="490"/>
            </a:xfrm>
            <a:prstGeom prst="roundRect">
              <a:avLst>
                <a:gd name="adj" fmla="val 50000"/>
              </a:avLst>
            </a:prstGeom>
            <a:solidFill>
              <a:srgbClr val="FBF1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4953" y="713"/>
              <a:ext cx="3018" cy="50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50" b="1" i="0">
                  <a:solidFill>
                    <a:srgbClr val="C98A2C"/>
                  </a:solidFill>
                  <a:latin typeface="微软雅黑" panose="020B0503020204020204" charset="-122"/>
                  <a:ea typeface="微软雅黑" panose="020B0503020204020204" charset="-122"/>
                </a:rPr>
                <a:t>  技术实现质量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2450439" y="932688"/>
            <a:ext cx="7290816" cy="5468112"/>
          </a:xfrm>
          <a:prstGeom prst="rect">
            <a:avLst/>
          </a:prstGeom>
          <a:noFill/>
          <a:ln w="1270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三大模块详解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25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:/Users/lenovo/OneDrive/画像/屏幕快照/图/11_报告生成逻辑流程图.png11_报告生成逻辑流程图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2353310" y="169545"/>
            <a:ext cx="8753475" cy="65646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1563624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1563624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报告生成 · 工程亮点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5129" y="457200"/>
            <a:ext cx="1916582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95129" y="452628"/>
            <a:ext cx="191658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技术实现质量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报告生成引擎与任务编排能力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1790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核心技术栈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56231"/>
            <a:ext cx="3168396" cy="329184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851660"/>
            <a:ext cx="3168396" cy="3383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SimpleDOCXGenerator（自研 OOXML）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1939" y="1856231"/>
            <a:ext cx="2112264" cy="329184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91939" y="1851660"/>
            <a:ext cx="2112264" cy="3383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asynq + Redis 任务队列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0508" y="1856231"/>
            <a:ext cx="1248156" cy="329184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0508" y="1851660"/>
            <a:ext cx="1248156" cy="3383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逐章节 AI 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44968" y="1856231"/>
            <a:ext cx="1344168" cy="329184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4968" y="1851660"/>
            <a:ext cx="1344168" cy="3383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9 个 MCP 工具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856231"/>
            <a:ext cx="1344168" cy="329184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1851660"/>
            <a:ext cx="1344168" cy="3383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最多 3 次自动重试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258568"/>
            <a:ext cx="2400300" cy="329184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2253996"/>
            <a:ext cx="2400300" cy="3383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AI Gateway 120s 长任务超时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825496"/>
            <a:ext cx="5166360" cy="14173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96695" y="2949194"/>
            <a:ext cx="457200" cy="457200"/>
          </a:xfrm>
          <a:prstGeom prst="ellipse">
            <a:avLst/>
          </a:prstGeom>
          <a:solidFill>
            <a:srgbClr val="C98A2C"/>
          </a:solidFill>
          <a:ln>
            <a:noFill/>
          </a:ln>
          <a:effectLst>
            <a:outerShdw blurRad="41148" dist="20116" dir="3000000" rotWithShape="0">
              <a:srgbClr val="3A4A6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6695" y="292392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18488" y="300837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自研 DOCX 引擎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5" y="3447288"/>
            <a:ext cx="472744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SimpleDOCXGenerator 基于 archive/zip 手写 OOXML，支持多级标题、表格、脚注、中文字体与封面页，不依赖第三方转换服务。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2825496"/>
            <a:ext cx="5166360" cy="14173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64808" y="2950464"/>
            <a:ext cx="457200" cy="457200"/>
          </a:xfrm>
          <a:prstGeom prst="ellipse">
            <a:avLst/>
          </a:prstGeom>
          <a:solidFill>
            <a:srgbClr val="C98A2C"/>
          </a:solidFill>
          <a:ln>
            <a:noFill/>
          </a:ln>
          <a:effectLst>
            <a:outerShdw blurRad="41148" dist="20116" dir="3000000" rotWithShape="0">
              <a:srgbClr val="3A4A6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64808" y="292392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00837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章节级失败重试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3447288"/>
            <a:ext cx="472744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整单任务失败可精确到失败章节重试，无需重新生成已成功章节，节省时间与 Token 成本。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425696"/>
            <a:ext cx="5166360" cy="14173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96695" y="4540504"/>
            <a:ext cx="457200" cy="457200"/>
          </a:xfrm>
          <a:prstGeom prst="ellipse">
            <a:avLst/>
          </a:prstGeom>
          <a:solidFill>
            <a:srgbClr val="C98A2C"/>
          </a:solidFill>
          <a:ln>
            <a:noFill/>
          </a:ln>
          <a:effectLst>
            <a:outerShdw blurRad="41148" dist="20116" dir="3000000" rotWithShape="0">
              <a:srgbClr val="3A4A6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6695" y="452412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18488" y="460857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两类报告端到端落地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5" y="5047488"/>
            <a:ext cx="472744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迎峰度夏检查报告、煤库存审计报告两类电力行业高频场景全链路可用，覆盖真实业务需求。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5352" y="4425696"/>
            <a:ext cx="5166360" cy="14173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64808" y="4548124"/>
            <a:ext cx="457200" cy="457200"/>
          </a:xfrm>
          <a:prstGeom prst="ellipse">
            <a:avLst/>
          </a:prstGeom>
          <a:solidFill>
            <a:srgbClr val="C98A2C"/>
          </a:solidFill>
          <a:ln>
            <a:noFill/>
          </a:ln>
          <a:effectLst>
            <a:outerShdw blurRad="41148" dist="20116" dir="3000000" rotWithShape="0">
              <a:srgbClr val="3A4A6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64808" y="4524121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460857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免调用 AI 的重新导出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4808" y="5047488"/>
            <a:ext cx="472744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样式或全局编号调整无需重新生成正文，直接复用已有内容重新导出 DOCX，响应更快更省成本。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6007607"/>
            <a:ext cx="10634472" cy="502920"/>
          </a:xfrm>
          <a:prstGeom prst="roundRect">
            <a:avLst>
              <a:gd name="adj" fmla="val 4500"/>
            </a:avLst>
          </a:prstGeom>
          <a:solidFill>
            <a:srgbClr val="14213D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33271" y="6099047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状态全程可查：</a:t>
            </a:r>
            <a:r>
              <a:rPr sz="1130" b="0" i="0">
                <a:solidFill>
                  <a:srgbClr val="E7ECF6"/>
                </a:solidFill>
                <a:latin typeface="微软雅黑" panose="020B0503020204020204" charset="-122"/>
                <a:ea typeface="微软雅黑" panose="020B0503020204020204" charset="-122"/>
              </a:rPr>
              <a:t>任务状态持久化于 Postgres（ReportJob/ReportJobAttempt/ReportEvent），全程事件可追溯、可审计。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三大模块详解与加分项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758952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758952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加分项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更进一步</a:t>
            </a: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落地情况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777240" y="1965960"/>
            <a:ext cx="5166360" cy="18288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033271" y="214884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模型本地离线部署</a:t>
            </a:r>
          </a:p>
        </p:txBody>
      </p:sp>
      <p:sp>
        <p:nvSpPr>
          <p:cNvPr id="9" name="Rounded Rectangle 8"/>
          <p:cNvSpPr/>
          <p:nvPr>
            <p:custDataLst>
              <p:tags r:id="rId3"/>
            </p:custDataLst>
          </p:nvPr>
        </p:nvSpPr>
        <p:spPr>
          <a:xfrm>
            <a:off x="4937760" y="2167128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4937760" y="2162556"/>
            <a:ext cx="7772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已落地</a:t>
            </a: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1033271" y="2624328"/>
            <a:ext cx="4654296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本地/离线模型接入协议已打通：Knowledge runtime 支持本地 embedding fallback，AI Gateway 默认 Profile 指向宿主机 Ollama/本地兼容 provider，架构与调用链路完整可用。</a:t>
            </a:r>
          </a:p>
        </p:txBody>
      </p:sp>
      <p:sp>
        <p:nvSpPr>
          <p:cNvPr id="12" name="Rounded Rectangle 11"/>
          <p:cNvSpPr/>
          <p:nvPr>
            <p:custDataLst>
              <p:tags r:id="rId6"/>
            </p:custDataLst>
          </p:nvPr>
        </p:nvSpPr>
        <p:spPr>
          <a:xfrm>
            <a:off x="6245352" y="1965960"/>
            <a:ext cx="5166360" cy="18288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6501384" y="214884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Word 统一样式导出</a:t>
            </a:r>
          </a:p>
        </p:txBody>
      </p:sp>
      <p:sp>
        <p:nvSpPr>
          <p:cNvPr id="14" name="Rounded Rectangle 13"/>
          <p:cNvSpPr/>
          <p:nvPr>
            <p:custDataLst>
              <p:tags r:id="rId8"/>
            </p:custDataLst>
          </p:nvPr>
        </p:nvSpPr>
        <p:spPr>
          <a:xfrm>
            <a:off x="10405872" y="2167128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10405872" y="2162556"/>
            <a:ext cx="7772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已落地</a:t>
            </a: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6501384" y="2624328"/>
            <a:ext cx="4654296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Document Worker 内置 SimpleDOCXGenerator，统一默认样式与全局编号；Pandoc 富文档工具链已选型（C-011），作为下一阶段增强。</a:t>
            </a:r>
          </a:p>
        </p:txBody>
      </p:sp>
      <p:sp>
        <p:nvSpPr>
          <p:cNvPr id="17" name="Rounded Rectangle 16"/>
          <p:cNvSpPr/>
          <p:nvPr>
            <p:custDataLst>
              <p:tags r:id="rId11"/>
            </p:custDataLst>
          </p:nvPr>
        </p:nvSpPr>
        <p:spPr>
          <a:xfrm>
            <a:off x="777240" y="3995928"/>
            <a:ext cx="5166360" cy="18288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1033271" y="4178808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回答溯源引用</a:t>
            </a:r>
          </a:p>
        </p:txBody>
      </p:sp>
      <p:sp>
        <p:nvSpPr>
          <p:cNvPr id="19" name="Rounded Rectangle 18"/>
          <p:cNvSpPr/>
          <p:nvPr>
            <p:custDataLst>
              <p:tags r:id="rId13"/>
            </p:custDataLst>
          </p:nvPr>
        </p:nvSpPr>
        <p:spPr>
          <a:xfrm>
            <a:off x="4937760" y="4201668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4937760" y="4192524"/>
            <a:ext cx="7772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已落地</a:t>
            </a:r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1033271" y="4654296"/>
            <a:ext cx="4654296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QA 保存引用快照（chunkId / documentId / 章节路径 / 相关性分数），用户可逐条追溯答案依据并查看原文。</a:t>
            </a:r>
          </a:p>
        </p:txBody>
      </p:sp>
      <p:sp>
        <p:nvSpPr>
          <p:cNvPr id="22" name="Rounded Rectangle 21"/>
          <p:cNvSpPr/>
          <p:nvPr>
            <p:custDataLst>
              <p:tags r:id="rId16"/>
            </p:custDataLst>
          </p:nvPr>
        </p:nvSpPr>
        <p:spPr>
          <a:xfrm>
            <a:off x="6245352" y="3995928"/>
            <a:ext cx="5166360" cy="18288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>
            <p:custDataLst>
              <p:tags r:id="rId17"/>
            </p:custDataLst>
          </p:nvPr>
        </p:nvSpPr>
        <p:spPr>
          <a:xfrm>
            <a:off x="6501384" y="4178808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章节重新生成</a:t>
            </a:r>
          </a:p>
        </p:txBody>
      </p:sp>
      <p:sp>
        <p:nvSpPr>
          <p:cNvPr id="26" name="TextBox 25"/>
          <p:cNvSpPr txBox="1"/>
          <p:nvPr>
            <p:custDataLst>
              <p:tags r:id="rId18"/>
            </p:custDataLst>
          </p:nvPr>
        </p:nvSpPr>
        <p:spPr>
          <a:xfrm>
            <a:off x="6501384" y="4654296"/>
            <a:ext cx="4654296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单章重新生成接口与 preserveUserEdits（保留用户已编辑内容）已在后端落地，前端交互正在补齐中，按 P2 优先级收尾。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三大模块详解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27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13"/>
          <p:cNvSpPr/>
          <p:nvPr>
            <p:custDataLst>
              <p:tags r:id="rId19"/>
            </p:custDataLst>
          </p:nvPr>
        </p:nvSpPr>
        <p:spPr>
          <a:xfrm>
            <a:off x="10405872" y="4201668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4"/>
          <p:cNvSpPr txBox="1"/>
          <p:nvPr>
            <p:custDataLst>
              <p:tags r:id="rId20"/>
            </p:custDataLst>
          </p:nvPr>
        </p:nvSpPr>
        <p:spPr>
          <a:xfrm>
            <a:off x="10405872" y="4192524"/>
            <a:ext cx="777240" cy="3383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已落地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96012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非功能需求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59798" y="457200"/>
            <a:ext cx="2051913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59798" y="452628"/>
            <a:ext cx="205191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  整体项目完成度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五大维度的工程质量覆盖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777240" y="1783080"/>
            <a:ext cx="2048256" cy="41148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>
            <p:custDataLst>
              <p:tags r:id="rId2"/>
            </p:custDataLst>
          </p:nvPr>
        </p:nvSpPr>
        <p:spPr>
          <a:xfrm>
            <a:off x="941832" y="1965960"/>
            <a:ext cx="365760" cy="365760"/>
          </a:xfrm>
          <a:prstGeom prst="ellipse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941832" y="1965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性</a:t>
            </a: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957072" y="2395728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性能</a:t>
            </a:r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941832" y="2814320"/>
            <a:ext cx="1737360" cy="3017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2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文档解析/切片/向量化异步执行，不阻塞页面操作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2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问答 SSE 流式；报告分章节流式生成并展示进度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2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列表分页；检索支持 Top K 与阈值参数</a:t>
            </a:r>
          </a:p>
        </p:txBody>
      </p:sp>
      <p:sp>
        <p:nvSpPr>
          <p:cNvPr id="14" name="Rounded Rectangle 13"/>
          <p:cNvSpPr/>
          <p:nvPr>
            <p:custDataLst>
              <p:tags r:id="rId6"/>
            </p:custDataLst>
          </p:nvPr>
        </p:nvSpPr>
        <p:spPr>
          <a:xfrm>
            <a:off x="2958084" y="1783080"/>
            <a:ext cx="2048256" cy="41148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>
            <p:custDataLst>
              <p:tags r:id="rId7"/>
            </p:custDataLst>
          </p:nvPr>
        </p:nvSpPr>
        <p:spPr>
          <a:xfrm>
            <a:off x="3122676" y="1965960"/>
            <a:ext cx="365760" cy="36576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3122676" y="1965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</a:t>
            </a:r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3137916" y="2395728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可用性</a:t>
            </a:r>
          </a:p>
        </p:txBody>
      </p:sp>
      <p:sp>
        <p:nvSpPr>
          <p:cNvPr id="18" name="TextBox 17"/>
          <p:cNvSpPr txBox="1"/>
          <p:nvPr>
            <p:custDataLst>
              <p:tags r:id="rId10"/>
            </p:custDataLst>
          </p:nvPr>
        </p:nvSpPr>
        <p:spPr>
          <a:xfrm>
            <a:off x="3122676" y="2814320"/>
            <a:ext cx="1737360" cy="3017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20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刷新后登录态与会话历史可恢复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20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文档/问答/报告任务状态与失败原因清晰可见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20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空/失败/处理中状态有明确提示；删除二次确认</a:t>
            </a:r>
          </a:p>
        </p:txBody>
      </p:sp>
      <p:sp>
        <p:nvSpPr>
          <p:cNvPr id="19" name="Rounded Rectangle 18"/>
          <p:cNvSpPr/>
          <p:nvPr>
            <p:custDataLst>
              <p:tags r:id="rId11"/>
            </p:custDataLst>
          </p:nvPr>
        </p:nvSpPr>
        <p:spPr>
          <a:xfrm>
            <a:off x="5138928" y="1783080"/>
            <a:ext cx="2048256" cy="41148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>
            <p:custDataLst>
              <p:tags r:id="rId12"/>
            </p:custDataLst>
          </p:nvPr>
        </p:nvSpPr>
        <p:spPr>
          <a:xfrm>
            <a:off x="5303520" y="1965960"/>
            <a:ext cx="365760" cy="365760"/>
          </a:xfrm>
          <a:prstGeom prst="ellipse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>
            <p:custDataLst>
              <p:tags r:id="rId13"/>
            </p:custDataLst>
          </p:nvPr>
        </p:nvSpPr>
        <p:spPr>
          <a:xfrm>
            <a:off x="5303520" y="1965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安</a:t>
            </a:r>
          </a:p>
        </p:txBody>
      </p:sp>
      <p:sp>
        <p:nvSpPr>
          <p:cNvPr id="22" name="TextBox 21"/>
          <p:cNvSpPr txBox="1"/>
          <p:nvPr>
            <p:custDataLst>
              <p:tags r:id="rId14"/>
            </p:custDataLst>
          </p:nvPr>
        </p:nvSpPr>
        <p:spPr>
          <a:xfrm>
            <a:off x="5318760" y="2395728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安全性</a:t>
            </a:r>
          </a:p>
        </p:txBody>
      </p:sp>
      <p:sp>
        <p:nvSpPr>
          <p:cNvPr id="23" name="TextBox 22"/>
          <p:cNvSpPr txBox="1"/>
          <p:nvPr>
            <p:custDataLst>
              <p:tags r:id="rId15"/>
            </p:custDataLst>
          </p:nvPr>
        </p:nvSpPr>
        <p:spPr>
          <a:xfrm>
            <a:off x="5303520" y="2814320"/>
            <a:ext cx="1737360" cy="3017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所有 API 强制认证，管理功能强制鉴权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下载原始文件与生成报告前校验权限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2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模型密钥、对象存储 key 不返回前端</a:t>
            </a:r>
          </a:p>
        </p:txBody>
      </p:sp>
      <p:sp>
        <p:nvSpPr>
          <p:cNvPr id="24" name="Rounded Rectangle 23"/>
          <p:cNvSpPr/>
          <p:nvPr>
            <p:custDataLst>
              <p:tags r:id="rId16"/>
            </p:custDataLst>
          </p:nvPr>
        </p:nvSpPr>
        <p:spPr>
          <a:xfrm>
            <a:off x="7319772" y="1783080"/>
            <a:ext cx="2048256" cy="41148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>
            <p:custDataLst>
              <p:tags r:id="rId17"/>
            </p:custDataLst>
          </p:nvPr>
        </p:nvSpPr>
        <p:spPr>
          <a:xfrm>
            <a:off x="7484364" y="1965960"/>
            <a:ext cx="365760" cy="365760"/>
          </a:xfrm>
          <a:prstGeom prst="ellipse">
            <a:avLst/>
          </a:prstGeom>
          <a:solidFill>
            <a:srgbClr val="2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>
            <p:custDataLst>
              <p:tags r:id="rId18"/>
            </p:custDataLst>
          </p:nvPr>
        </p:nvSpPr>
        <p:spPr>
          <a:xfrm>
            <a:off x="7484364" y="1965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</a:t>
            </a:r>
          </a:p>
        </p:txBody>
      </p:sp>
      <p:sp>
        <p:nvSpPr>
          <p:cNvPr id="27" name="TextBox 26"/>
          <p:cNvSpPr txBox="1"/>
          <p:nvPr>
            <p:custDataLst>
              <p:tags r:id="rId19"/>
            </p:custDataLst>
          </p:nvPr>
        </p:nvSpPr>
        <p:spPr>
          <a:xfrm>
            <a:off x="7499604" y="2395728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可维护性</a:t>
            </a:r>
          </a:p>
        </p:txBody>
      </p:sp>
      <p:sp>
        <p:nvSpPr>
          <p:cNvPr id="28" name="TextBox 27"/>
          <p:cNvSpPr txBox="1"/>
          <p:nvPr>
            <p:custDataLst>
              <p:tags r:id="rId20"/>
            </p:custDataLst>
          </p:nvPr>
        </p:nvSpPr>
        <p:spPr>
          <a:xfrm>
            <a:off x="7484364" y="2814320"/>
            <a:ext cx="1737360" cy="3017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200" b="1" i="0">
                <a:solidFill>
                  <a:srgbClr val="2B3A5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各服务只写自己拥有的数据表，跨服务经 API 协作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200" b="1" i="0">
                <a:solidFill>
                  <a:srgbClr val="2B3A5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运行时配置变更可追踪，尽量免重启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200" b="1" i="0">
                <a:solidFill>
                  <a:srgbClr val="2B3A5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索引与 embedding 模型版本全程可追溯</a:t>
            </a:r>
          </a:p>
        </p:txBody>
      </p:sp>
      <p:sp>
        <p:nvSpPr>
          <p:cNvPr id="29" name="Rounded Rectangle 28"/>
          <p:cNvSpPr/>
          <p:nvPr>
            <p:custDataLst>
              <p:tags r:id="rId21"/>
            </p:custDataLst>
          </p:nvPr>
        </p:nvSpPr>
        <p:spPr>
          <a:xfrm>
            <a:off x="9500616" y="1783080"/>
            <a:ext cx="2048256" cy="41148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>
            <p:custDataLst>
              <p:tags r:id="rId22"/>
            </p:custDataLst>
          </p:nvPr>
        </p:nvSpPr>
        <p:spPr>
          <a:xfrm>
            <a:off x="9665208" y="1965960"/>
            <a:ext cx="365760" cy="365760"/>
          </a:xfrm>
          <a:prstGeom prst="ellipse">
            <a:avLst/>
          </a:prstGeom>
          <a:solidFill>
            <a:srgbClr val="6B4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>
            <p:custDataLst>
              <p:tags r:id="rId23"/>
            </p:custDataLst>
          </p:nvPr>
        </p:nvSpPr>
        <p:spPr>
          <a:xfrm>
            <a:off x="9665208" y="1965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扩</a:t>
            </a:r>
          </a:p>
        </p:txBody>
      </p:sp>
      <p:sp>
        <p:nvSpPr>
          <p:cNvPr id="32" name="TextBox 31"/>
          <p:cNvSpPr txBox="1"/>
          <p:nvPr>
            <p:custDataLst>
              <p:tags r:id="rId24"/>
            </p:custDataLst>
          </p:nvPr>
        </p:nvSpPr>
        <p:spPr>
          <a:xfrm>
            <a:off x="9680448" y="2395728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扩展性</a:t>
            </a:r>
          </a:p>
        </p:txBody>
      </p:sp>
      <p:sp>
        <p:nvSpPr>
          <p:cNvPr id="33" name="TextBox 32"/>
          <p:cNvSpPr txBox="1"/>
          <p:nvPr>
            <p:custDataLst>
              <p:tags r:id="rId25"/>
            </p:custDataLst>
          </p:nvPr>
        </p:nvSpPr>
        <p:spPr>
          <a:xfrm>
            <a:off x="9665208" y="2814320"/>
            <a:ext cx="1737360" cy="3017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200" b="1" i="0">
                <a:solidFill>
                  <a:srgbClr val="6B4F2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支持新增知识库类型、文档类型与检索策略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200" b="1" i="0">
                <a:solidFill>
                  <a:srgbClr val="6B4F2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支持新增报告类型和模板</a:t>
            </a:r>
          </a:p>
          <a:p>
            <a:pPr>
              <a:lnSpc>
                <a:spcPct val="122000"/>
              </a:lnSpc>
              <a:spcAft>
                <a:spcPts val="1300"/>
              </a:spcAft>
            </a:pPr>
            <a:r>
              <a:rPr sz="1200" b="1" i="0">
                <a:solidFill>
                  <a:srgbClr val="6B4F2C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预留本地化模型、本地 OCR 接入空间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工程规范与质量保障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28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85953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过程管理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89136" y="457200"/>
            <a:ext cx="2322575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89136" y="452628"/>
            <a:ext cx="2322575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  项目规范与过程管理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敏捷协作与项目管理规范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5166360" cy="41605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196596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PingCode 规范使用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413000"/>
            <a:ext cx="4663440" cy="3383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史诗 / 特征 / 用户故事三级拆分，用户故事均含工时或故事点估算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迭代管理：设置迭代起止时间，工作项在计划会议中落实到责任人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燃尽图与看板每日站会前查看，实时反映迭代健康度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4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缺陷（Bug）在 PingCode 中指定负责人并跟踪闭环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8192" y="1783080"/>
            <a:ext cx="5303520" cy="416052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96596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Scrum 会议实践</a:t>
            </a:r>
          </a:p>
        </p:txBody>
      </p:sp>
      <p:sp>
        <p:nvSpPr>
          <p:cNvPr id="14" name="Oval 13"/>
          <p:cNvSpPr/>
          <p:nvPr>
            <p:custDataLst>
              <p:tags r:id="rId1"/>
            </p:custDataLst>
          </p:nvPr>
        </p:nvSpPr>
        <p:spPr>
          <a:xfrm>
            <a:off x="6364224" y="2438400"/>
            <a:ext cx="384048" cy="384048"/>
          </a:xfrm>
          <a:prstGeom prst="ellipse">
            <a:avLst/>
          </a:prstGeom>
          <a:solidFill>
            <a:srgbClr val="2F5AA8"/>
          </a:solidFill>
          <a:ln>
            <a:noFill/>
          </a:ln>
          <a:effectLst>
            <a:outerShdw blurRad="41148" dist="20116" dir="3000000" rotWithShape="0">
              <a:srgbClr val="3A4A6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>
            <p:custDataLst>
              <p:tags r:id="rId2"/>
            </p:custDataLst>
          </p:nvPr>
        </p:nvSpPr>
        <p:spPr>
          <a:xfrm>
            <a:off x="6364224" y="24201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●</a:t>
            </a:r>
          </a:p>
        </p:txBody>
      </p:sp>
      <p:sp>
        <p:nvSpPr>
          <p:cNvPr id="16" name="TextBox 15"/>
          <p:cNvSpPr txBox="1"/>
          <p:nvPr>
            <p:custDataLst>
              <p:tags r:id="rId3"/>
            </p:custDataLst>
          </p:nvPr>
        </p:nvSpPr>
        <p:spPr>
          <a:xfrm>
            <a:off x="6903720" y="2410968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计划会议</a:t>
            </a:r>
          </a:p>
        </p:txBody>
      </p:sp>
      <p:sp>
        <p:nvSpPr>
          <p:cNvPr id="17" name="TextBox 16"/>
          <p:cNvSpPr txBox="1"/>
          <p:nvPr>
            <p:custDataLst>
              <p:tags r:id="rId4"/>
            </p:custDataLst>
          </p:nvPr>
        </p:nvSpPr>
        <p:spPr>
          <a:xfrm>
            <a:off x="8275320" y="239064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2-3 小时，理解需求、拆分任务、估算并认领</a:t>
            </a:r>
          </a:p>
        </p:txBody>
      </p:sp>
      <p:sp>
        <p:nvSpPr>
          <p:cNvPr id="18" name="Oval 17"/>
          <p:cNvSpPr/>
          <p:nvPr>
            <p:custDataLst>
              <p:tags r:id="rId5"/>
            </p:custDataLst>
          </p:nvPr>
        </p:nvSpPr>
        <p:spPr>
          <a:xfrm>
            <a:off x="6364224" y="3096768"/>
            <a:ext cx="384048" cy="384048"/>
          </a:xfrm>
          <a:prstGeom prst="ellipse">
            <a:avLst/>
          </a:prstGeom>
          <a:solidFill>
            <a:srgbClr val="2F5AA8"/>
          </a:solidFill>
          <a:ln>
            <a:noFill/>
          </a:ln>
          <a:effectLst>
            <a:outerShdw blurRad="41148" dist="20116" dir="3000000" rotWithShape="0">
              <a:srgbClr val="3A4A6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>
            <p:custDataLst>
              <p:tags r:id="rId6"/>
            </p:custDataLst>
          </p:nvPr>
        </p:nvSpPr>
        <p:spPr>
          <a:xfrm>
            <a:off x="6364224" y="30784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●</a:t>
            </a:r>
          </a:p>
        </p:txBody>
      </p:sp>
      <p:sp>
        <p:nvSpPr>
          <p:cNvPr id="20" name="TextBox 19"/>
          <p:cNvSpPr txBox="1"/>
          <p:nvPr>
            <p:custDataLst>
              <p:tags r:id="rId7"/>
            </p:custDataLst>
          </p:nvPr>
        </p:nvSpPr>
        <p:spPr>
          <a:xfrm>
            <a:off x="6903720" y="3069336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每日站会</a:t>
            </a:r>
          </a:p>
        </p:txBody>
      </p:sp>
      <p:sp>
        <p:nvSpPr>
          <p:cNvPr id="21" name="TextBox 20"/>
          <p:cNvSpPr txBox="1"/>
          <p:nvPr>
            <p:custDataLst>
              <p:tags r:id="rId8"/>
            </p:custDataLst>
          </p:nvPr>
        </p:nvSpPr>
        <p:spPr>
          <a:xfrm>
            <a:off x="8275320" y="3049016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15 分钟/天，同步进度、风险与协助需求</a:t>
            </a:r>
          </a:p>
        </p:txBody>
      </p:sp>
      <p:sp>
        <p:nvSpPr>
          <p:cNvPr id="22" name="Oval 21"/>
          <p:cNvSpPr/>
          <p:nvPr>
            <p:custDataLst>
              <p:tags r:id="rId9"/>
            </p:custDataLst>
          </p:nvPr>
        </p:nvSpPr>
        <p:spPr>
          <a:xfrm>
            <a:off x="6364224" y="3755136"/>
            <a:ext cx="384048" cy="384048"/>
          </a:xfrm>
          <a:prstGeom prst="ellipse">
            <a:avLst/>
          </a:prstGeom>
          <a:solidFill>
            <a:srgbClr val="2F5AA8"/>
          </a:solidFill>
          <a:ln>
            <a:noFill/>
          </a:ln>
          <a:effectLst>
            <a:outerShdw blurRad="41148" dist="20116" dir="3000000" rotWithShape="0">
              <a:srgbClr val="3A4A6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>
            <p:custDataLst>
              <p:tags r:id="rId10"/>
            </p:custDataLst>
          </p:nvPr>
        </p:nvSpPr>
        <p:spPr>
          <a:xfrm>
            <a:off x="6364224" y="37368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●</a:t>
            </a:r>
          </a:p>
        </p:txBody>
      </p:sp>
      <p:sp>
        <p:nvSpPr>
          <p:cNvPr id="24" name="TextBox 23"/>
          <p:cNvSpPr txBox="1"/>
          <p:nvPr>
            <p:custDataLst>
              <p:tags r:id="rId11"/>
            </p:custDataLst>
          </p:nvPr>
        </p:nvSpPr>
        <p:spPr>
          <a:xfrm>
            <a:off x="6903720" y="3727703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回顾会</a:t>
            </a:r>
          </a:p>
        </p:txBody>
      </p:sp>
      <p:sp>
        <p:nvSpPr>
          <p:cNvPr id="25" name="TextBox 24"/>
          <p:cNvSpPr txBox="1"/>
          <p:nvPr>
            <p:custDataLst>
              <p:tags r:id="rId12"/>
            </p:custDataLst>
          </p:nvPr>
        </p:nvSpPr>
        <p:spPr>
          <a:xfrm>
            <a:off x="8275320" y="3707383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1-2 小时，总结改进点并制定下一步行动计划</a:t>
            </a:r>
          </a:p>
        </p:txBody>
      </p:sp>
      <p:sp>
        <p:nvSpPr>
          <p:cNvPr id="26" name="Oval 25"/>
          <p:cNvSpPr/>
          <p:nvPr>
            <p:custDataLst>
              <p:tags r:id="rId13"/>
            </p:custDataLst>
          </p:nvPr>
        </p:nvSpPr>
        <p:spPr>
          <a:xfrm>
            <a:off x="6364224" y="4413504"/>
            <a:ext cx="384048" cy="384048"/>
          </a:xfrm>
          <a:prstGeom prst="ellipse">
            <a:avLst/>
          </a:prstGeom>
          <a:solidFill>
            <a:srgbClr val="2F5AA8"/>
          </a:solidFill>
          <a:ln>
            <a:noFill/>
          </a:ln>
          <a:effectLst>
            <a:outerShdw blurRad="41148" dist="20116" dir="3000000" rotWithShape="0">
              <a:srgbClr val="3A4A6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>
            <p:custDataLst>
              <p:tags r:id="rId14"/>
            </p:custDataLst>
          </p:nvPr>
        </p:nvSpPr>
        <p:spPr>
          <a:xfrm>
            <a:off x="6364224" y="4395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●</a:t>
            </a:r>
          </a:p>
        </p:txBody>
      </p:sp>
      <p:sp>
        <p:nvSpPr>
          <p:cNvPr id="28" name="TextBox 27"/>
          <p:cNvSpPr txBox="1"/>
          <p:nvPr>
            <p:custDataLst>
              <p:tags r:id="rId15"/>
            </p:custDataLst>
          </p:nvPr>
        </p:nvSpPr>
        <p:spPr>
          <a:xfrm>
            <a:off x="6903720" y="4386071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评审会</a:t>
            </a:r>
          </a:p>
        </p:txBody>
      </p:sp>
      <p:sp>
        <p:nvSpPr>
          <p:cNvPr id="29" name="TextBox 28"/>
          <p:cNvSpPr txBox="1"/>
          <p:nvPr>
            <p:custDataLst>
              <p:tags r:id="rId16"/>
            </p:custDataLst>
          </p:nvPr>
        </p:nvSpPr>
        <p:spPr>
          <a:xfrm>
            <a:off x="8275320" y="4365751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讲解完成功能、设计思路与 Demo 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工程规范与质量保障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29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85953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工程规范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89136" y="457200"/>
            <a:ext cx="2322575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89136" y="452628"/>
            <a:ext cx="2322575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 项目规范与过程管理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协作机制与代码治理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783080"/>
            <a:ext cx="10634472" cy="9144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05840" y="1984248"/>
            <a:ext cx="512064" cy="512064"/>
          </a:xfrm>
          <a:prstGeom prst="ellipse">
            <a:avLst/>
          </a:prstGeom>
          <a:solidFill>
            <a:srgbClr val="2F5AA8"/>
          </a:solidFill>
          <a:ln>
            <a:noFill/>
          </a:ln>
          <a:effectLst>
            <a:outerShdw blurRad="41148" dist="20116" dir="3000000" rotWithShape="0">
              <a:srgbClr val="3A4A6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96596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901952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Fork + PR 协作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01952"/>
            <a:ext cx="66751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个人分支基于最新 develop 创建，功能 / 修复 / 文档一律走 PR；禁止直接 push develop / main，main 仅用于发布合并。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25496"/>
            <a:ext cx="10634472" cy="9144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5840" y="3026664"/>
            <a:ext cx="512064" cy="512064"/>
          </a:xfrm>
          <a:prstGeom prst="ellipse">
            <a:avLst/>
          </a:prstGeom>
          <a:solidFill>
            <a:srgbClr val="2F5AA8"/>
          </a:solidFill>
          <a:ln>
            <a:noFill/>
          </a:ln>
          <a:effectLst>
            <a:outerShdw blurRad="41148" dist="20116" dir="3000000" rotWithShape="0">
              <a:srgbClr val="3A4A6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008376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944368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Conventional Commits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944368"/>
            <a:ext cx="66751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统一 &lt;type&gt;(&lt;scope&gt;): &lt;subject&gt; 格式，例如 feat(gateway)、fix(auth)，保证提交历史可追溯、可生成变更日志。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867911"/>
            <a:ext cx="10634472" cy="9144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5840" y="4069079"/>
            <a:ext cx="512064" cy="512064"/>
          </a:xfrm>
          <a:prstGeom prst="ellipse">
            <a:avLst/>
          </a:prstGeom>
          <a:solidFill>
            <a:srgbClr val="2F5AA8"/>
          </a:solidFill>
          <a:ln>
            <a:noFill/>
          </a:ln>
          <a:effectLst>
            <a:outerShdw blurRad="41148" dist="20116" dir="3000000" rotWithShape="0">
              <a:srgbClr val="3A4A6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050791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986783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服务边界矩阵驱动开发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986783"/>
            <a:ext cx="66751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以 service-boundaries.md 作为跨小组契约：谁拥有数据表、谁提供 API 提前约定，减少接口反复扯皮。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910328"/>
            <a:ext cx="10634472" cy="914400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05840" y="5111496"/>
            <a:ext cx="512064" cy="512064"/>
          </a:xfrm>
          <a:prstGeom prst="ellipse">
            <a:avLst/>
          </a:prstGeom>
          <a:solidFill>
            <a:srgbClr val="2F5AA8"/>
          </a:solidFill>
          <a:ln>
            <a:noFill/>
          </a:ln>
          <a:effectLst>
            <a:outerShdw blurRad="41148" dist="20116" dir="3000000" rotWithShape="0">
              <a:srgbClr val="3A4A6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09320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029200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路径过滤 CI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029200"/>
            <a:ext cx="667512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PR Guard / Commitlint 全量触发；Frontend CI、Go Service CI 按变更路径精准触发，避免无关服务被拖慢。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工程规范与质量保障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85953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质量保障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5129" y="457200"/>
            <a:ext cx="1916582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95129" y="452628"/>
            <a:ext cx="191658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 技术实现质量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分级测试口径与证据文化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五级测试口径（docs/testing/test-matrix.md）——从本地自测到人工验收，层层收紧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74519"/>
            <a:ext cx="2048256" cy="3063240"/>
          </a:xfrm>
          <a:prstGeom prst="roundRect">
            <a:avLst>
              <a:gd name="adj" fmla="val 4500"/>
            </a:avLst>
          </a:prstGeom>
          <a:solidFill>
            <a:srgbClr val="EAF0FA"/>
          </a:solidFill>
          <a:ln w="12700">
            <a:solidFill>
              <a:srgbClr val="D3E0F5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2084831"/>
            <a:ext cx="1755648" cy="548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本地自动化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697480"/>
            <a:ext cx="1755648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不依赖外部凭据，开发者与 Reviewer 可重复执行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611880"/>
            <a:ext cx="1755648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无需任何外部密钥即可在本地反复运行，快速反馈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58084" y="1874519"/>
            <a:ext cx="2048256" cy="3063240"/>
          </a:xfrm>
          <a:prstGeom prst="roundRect">
            <a:avLst>
              <a:gd name="adj" fmla="val 4500"/>
            </a:avLst>
          </a:prstGeom>
          <a:solidFill>
            <a:srgbClr val="EAF0FA"/>
          </a:solidFill>
          <a:ln w="12700">
            <a:solidFill>
              <a:srgbClr val="D3E0F5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4388" y="2084831"/>
            <a:ext cx="1755648" cy="548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CI 自动化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4388" y="2697480"/>
            <a:ext cx="1755648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GitHub Actions 稳定执行，作为 required check 候选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4388" y="3611880"/>
            <a:ext cx="1755648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路径过滤精准触发，PR 必须通过才能合并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38928" y="1874519"/>
            <a:ext cx="2048256" cy="3063240"/>
          </a:xfrm>
          <a:prstGeom prst="roundRect">
            <a:avLst>
              <a:gd name="adj" fmla="val 4500"/>
            </a:avLst>
          </a:prstGeom>
          <a:solidFill>
            <a:srgbClr val="EAF0FA"/>
          </a:solidFill>
          <a:ln w="12700">
            <a:solidFill>
              <a:srgbClr val="D3E0F5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85232" y="2084831"/>
            <a:ext cx="1755648" cy="548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env-gated smoke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2" y="2697480"/>
            <a:ext cx="1755648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依赖数据库 / Redis / MinIO / ES / Knowledge 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3611880"/>
            <a:ext cx="1755648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在真实基础设施上验证跨服务集成行为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9772" y="1874519"/>
            <a:ext cx="2048256" cy="3063240"/>
          </a:xfrm>
          <a:prstGeom prst="roundRect">
            <a:avLst>
              <a:gd name="adj" fmla="val 4500"/>
            </a:avLst>
          </a:prstGeom>
          <a:solidFill>
            <a:srgbClr val="EAF0FA"/>
          </a:solidFill>
          <a:ln w="12700">
            <a:solidFill>
              <a:srgbClr val="D3E0F5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66076" y="2084831"/>
            <a:ext cx="1755648" cy="548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真实 provider smoke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6076" y="2697480"/>
            <a:ext cx="1755648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依赖真实外部模型供应商 key 或受保护环境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6076" y="3611880"/>
            <a:ext cx="1755648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验证与真实 AI 服务对接的完整链路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0616" y="1874519"/>
            <a:ext cx="2048256" cy="3063240"/>
          </a:xfrm>
          <a:prstGeom prst="roundRect">
            <a:avLst>
              <a:gd name="adj" fmla="val 4500"/>
            </a:avLst>
          </a:prstGeom>
          <a:solidFill>
            <a:srgbClr val="EAF0FA"/>
          </a:solidFill>
          <a:ln w="12700">
            <a:solidFill>
              <a:srgbClr val="D3E0F5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46920" y="2084831"/>
            <a:ext cx="1755648" cy="5486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人工验收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2697480"/>
            <a:ext cx="1755648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账号、截图、演示环境与逐步操作 checklist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611880"/>
            <a:ext cx="1755648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覆盖自动化难以完整验证的端到端体验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138928"/>
            <a:ext cx="10634472" cy="822960"/>
          </a:xfrm>
          <a:prstGeom prst="roundRect">
            <a:avLst>
              <a:gd name="adj" fmla="val 4500"/>
            </a:avLst>
          </a:prstGeom>
          <a:solidFill>
            <a:srgbClr val="14213D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3271" y="5257800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证据文化：</a:t>
            </a:r>
            <a:r>
              <a:rPr sz="1300" b="0" i="0">
                <a:solidFill>
                  <a:srgbClr val="E7ECF6"/>
                </a:solidFill>
                <a:latin typeface="微软雅黑" panose="020B0503020204020204" charset="-122"/>
                <a:ea typeface="微软雅黑" panose="020B0503020204020204" charset="-122"/>
              </a:rPr>
              <a:t>禁止只写「已测试」——未运行项必须记录缺失环境、跳过条件与残余风险；集成/E2E/权限边界类测试必须留存完整测试报告。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工程规范与质量保障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31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85953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质量案例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95129" y="457200"/>
            <a:ext cx="1916582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95129" y="452628"/>
            <a:ext cx="191658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  技术实现质量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632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真实环境测试与问题闭环案例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8640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案例：QA SSE 流式行为真实环境验证（Issue #498，2026-07-03）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965960"/>
            <a:ext cx="3200400" cy="3977639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9864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个测试用例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566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通过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5661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96511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部分通过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096511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2686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失败并转 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626864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03A2E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157216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环境阻塞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5157216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B667A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1965960"/>
            <a:ext cx="7251192" cy="3977639"/>
          </a:xfrm>
          <a:prstGeom prst="roundRect">
            <a:avLst>
              <a:gd name="adj" fmla="val 4500"/>
            </a:avLst>
          </a:prstGeom>
          <a:solidFill>
            <a:srgbClr val="F6F8FC"/>
          </a:solidFill>
          <a:ln w="12700">
            <a:solidFill>
              <a:srgbClr val="E1E6EF"/>
            </a:solidFill>
          </a:ln>
          <a:effectLst>
            <a:outerShdw blurRad="54864" dist="27432" dir="3000000" rotWithShape="0">
              <a:srgbClr val="3A4A66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16552" y="217424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覆盖范围与发现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2724912"/>
            <a:ext cx="6766560" cy="3200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覆盖 SSE 连通性、事件契约、事件顺序、回放、校验错误、断线行为、脱敏与日志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共 12 个用例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发现缺陷：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回答未真正增量流式输出（转 Issue #604）；客户端断线未取消运行（转 Issue #605），均已转独立 Issue 跟踪，不在测试任务中扩大改动范围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环境阻塞：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Knowledge 向量检索运行时不可用，导致 tool.completed / citation.delta 成功路径暂未验证，已如实记录残余风险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▸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证据留存：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SSE 原始流、回放结果、脱敏扫描等全部归档，杜绝“测试通过”空口结论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工程规范与质量保障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32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45720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2628"/>
            <a:ext cx="859536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AA8"/>
                </a:solidFill>
                <a:latin typeface="微软雅黑" panose="020B0503020204020204" charset="-122"/>
                <a:ea typeface="微软雅黑" panose="020B0503020204020204" charset="-122"/>
              </a:rPr>
              <a:t>项目现状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59798" y="457200"/>
            <a:ext cx="2051913" cy="310896"/>
          </a:xfrm>
          <a:prstGeom prst="roundRect">
            <a:avLst>
              <a:gd name="adj" fmla="val 50000"/>
            </a:avLst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59798" y="452628"/>
            <a:ext cx="205191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8A2C"/>
                </a:solidFill>
                <a:latin typeface="微软雅黑" panose="020B0503020204020204" charset="-122"/>
                <a:ea typeface="微软雅黑" panose="020B0503020204020204" charset="-122"/>
              </a:rPr>
              <a:t>  整体项目完成度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841248"/>
            <a:ext cx="98755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各服务当前完成度总览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357884"/>
            <a:ext cx="420624" cy="41148"/>
          </a:xfrm>
          <a:prstGeom prst="rect">
            <a:avLst/>
          </a:prstGeom>
          <a:solidFill>
            <a:srgbClr val="C98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783080"/>
          <a:ext cx="10634471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7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服务 / 模块</a:t>
                      </a:r>
                    </a:p>
                  </a:txBody>
                  <a:tcPr marL="101600" marT="63500" marB="63500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当前状态</a:t>
                      </a:r>
                    </a:p>
                  </a:txBody>
                  <a:tcPr marL="101600" marT="63500" marB="63500" anchor="ctr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F5A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apps/web 前端</a:t>
                      </a:r>
                    </a:p>
                  </a:txBody>
                  <a:tcPr marL="101600" marR="762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已落地：Bun workspace + Vite + React 19 + TypeScript + Tailwind，质量命令接入 CI</a:t>
                      </a:r>
                    </a:p>
                  </a:txBody>
                  <a:tcPr marL="101600" marR="762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F5A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gateway 网关</a:t>
                      </a:r>
                    </a:p>
                  </a:txBody>
                  <a:tcPr marL="101600" marR="76200" marT="63500" marB="6350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已落地：路由转发、Redis 会话缓存、Knowledge/QA/Auth 等 owner 路由已转 active proxy</a:t>
                      </a:r>
                    </a:p>
                  </a:txBody>
                  <a:tcPr marL="101600" marR="76200" marT="63500" marB="63500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F5A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auth 认证</a:t>
                      </a:r>
                    </a:p>
                  </a:txBody>
                  <a:tcPr marL="101600" marR="762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已落地：PostgreSQL 用户/会话仓储、argon2id 密码哈希、token hash 与迁移</a:t>
                      </a:r>
                    </a:p>
                  </a:txBody>
                  <a:tcPr marL="101600" marR="762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F5A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knowledge 知识管理</a:t>
                      </a:r>
                    </a:p>
                  </a:txBody>
                  <a:tcPr marL="101600" marR="76200" marT="63500" marB="6350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已落地：知识库 CRUD、文档上传/解析/切片/向量化/索引/检索</a:t>
                      </a:r>
                    </a:p>
                  </a:txBody>
                  <a:tcPr marL="101600" marR="76200" marT="63500" marB="63500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F5A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qa 智能问答</a:t>
                      </a:r>
                    </a:p>
                  </a:txBody>
                  <a:tcPr marL="101600" marR="762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已落地：会话/消息/SSE、系统提示词版本化、引用、MCP 基础；已在真实 provider 环境下验证问答全链路，发现并转化 2 个真实缺陷（#604/#605）</a:t>
                      </a:r>
                    </a:p>
                  </a:txBody>
                  <a:tcPr marL="101600" marR="762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F5A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document 报告生成</a:t>
                      </a:r>
                    </a:p>
                  </a:txBody>
                  <a:tcPr marL="101600" marR="76200" marT="63500" marB="6350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已落地：模板/材料/报告/大纲/章节 API、异步任务、MCP 工具适配；更多报告类型持续扩展</a:t>
                      </a:r>
                    </a:p>
                  </a:txBody>
                  <a:tcPr marL="101600" marR="76200" marT="63500" marB="63500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F5A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ai-gateway 模型网关</a:t>
                      </a:r>
                    </a:p>
                  </a:txBody>
                  <a:tcPr marL="101600" marR="762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已落地：模型 Profile CRUD、凭据加密、OpenAI 兼容 Chat/Embedding/Rerank 统一封装；真实 provider 下完成 Chat 链路验证</a:t>
                      </a:r>
                    </a:p>
                  </a:txBody>
                  <a:tcPr marL="101600" marR="762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F5A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CI/CD</a:t>
                      </a:r>
                    </a:p>
                  </a:txBody>
                  <a:tcPr marL="101600" marR="76200" marT="63500" marB="63500" anchor="ctr"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4213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已落地：PR Guard、Commitlint、前端/Go 服务路径过滤构建测试、迁移校验、Docker 配置检查</a:t>
                      </a:r>
                    </a:p>
                  </a:txBody>
                  <a:tcPr marL="101600" marR="76200" marT="63500" marB="63500" anchor="ctr"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652881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项目现状与后续规划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2881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微软雅黑" panose="020B0503020204020204" charset="-122"/>
                <a:ea typeface="微软雅黑" panose="020B0503020204020204" charset="-122"/>
              </a:rPr>
              <a:t>33</a:t>
            </a:r>
            <a:endParaRPr lang="en-US" sz="1000" b="0" i="0">
              <a:solidFill>
                <a:srgbClr val="8A93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7240" y="6473952"/>
            <a:ext cx="10652760" cy="10972"/>
          </a:xfrm>
          <a:prstGeom prst="rect">
            <a:avLst/>
          </a:prstGeom>
          <a:solidFill>
            <a:srgbClr val="E1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2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0" y="-2011680"/>
            <a:ext cx="4754880" cy="4754880"/>
          </a:xfrm>
          <a:prstGeom prst="ellipse">
            <a:avLst/>
          </a:prstGeom>
          <a:solidFill>
            <a:srgbClr val="1E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4536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感谢导师团指导，感谢团队协作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137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6EC"/>
                </a:solidFill>
                <a:latin typeface="微软雅黑" panose="020B0503020204020204" charset="-122"/>
                <a:ea typeface="微软雅黑" panose="020B0503020204020204" charset="-122"/>
              </a:rPr>
              <a:t>知识库管理 · 智能问答 · 报告生成 —— 三大子系统一体化交付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84007874015754,&quot;left&quot;:79.2,&quot;top&quot;:147.59992125984252,&quot;width&quot;:730.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1.43999999999997,&quot;left&quot;:61.2,&quot;top&quot;:140.4,&quot;width&quot;:855.359999999999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1.43999999999997,&quot;left&quot;:61.2,&quot;top&quot;:140.4,&quot;width&quot;:855.359999999999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1.43999999999997,&quot;left&quot;:61.2,&quot;top&quot;:140.4,&quot;width&quot;:855.3599999999999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1.43999999999997,&quot;left&quot;:61.2,&quot;top&quot;:140.4,&quot;width&quot;:855.3599999999999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1.43999999999997,&quot;left&quot;:61.2,&quot;top&quot;:140.4,&quot;width&quot;:855.3599999999999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1.43999999999997,&quot;left&quot;:61.2,&quot;top&quot;:140.4,&quot;width&quot;:855.3599999999999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1.43999999999997,&quot;left&quot;:61.2,&quot;top&quot;:140.4,&quot;width&quot;:855.359999999999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1.43999999999997,&quot;left&quot;:61.2,&quot;top&quot;:140.4,&quot;width&quot;:855.359999999999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1.43999999999997,&quot;left&quot;:61.2,&quot;top&quot;:140.4,&quot;width&quot;:855.3599999999999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1.43999999999997,&quot;left&quot;:61.2,&quot;top&quot;:140.4,&quot;width&quot;:855.3599999999999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1.43999999999997,&quot;left&quot;:61.2,&quot;top&quot;:140.4,&quot;width&quot;:855.3599999999999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1.43999999999997,&quot;left&quot;:61.2,&quot;top&quot;:140.4,&quot;width&quot;:855.3599999999999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8.16,&quot;left&quot;:61.2,&quot;top&quot;:140.4,&quot;width&quot;:831.743937007874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52.1199212598425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52.1199212598425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52.1199212598425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52.1199212598425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52.1199212598425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52.1199212598425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52.1199212598425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52.1199212598425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52.1199212598425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52.1199212598425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52.1199212598425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52.1199212598425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52.1199212598425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52.1199212598425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52.1199212598425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52.1199212598425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7.5999999999999,&quot;left&quot;:61.2,&quot;top&quot;:222.48000000000002,&quot;width&quot;:837.36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3.84,&quot;left&quot;:61.2,&quot;top&quot;:154.8,&quot;width&quot;:837.36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61.2,&quot;top&quot;:140.4,&quot;width&quot;:848.1600000000001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11992125984256,&quot;left&quot;:501.12,&quot;top&quot;:187.03999999999996,&quot;width&quot;:388.08000000000004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11992125984256,&quot;left&quot;:501.12,&quot;top&quot;:187.03999999999996,&quot;width&quot;:388.08000000000004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11992125984256,&quot;left&quot;:501.12,&quot;top&quot;:187.03999999999996,&quot;width&quot;:388.08000000000004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11992125984256,&quot;left&quot;:501.12,&quot;top&quot;:187.03999999999996,&quot;width&quot;:388.08000000000004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11992125984256,&quot;left&quot;:501.12,&quot;top&quot;:187.03999999999996,&quot;width&quot;:388.08000000000004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11992125984256,&quot;left&quot;:501.12,&quot;top&quot;:187.03999999999996,&quot;width&quot;:388.08000000000004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11992125984256,&quot;left&quot;:501.12,&quot;top&quot;:187.03999999999996,&quot;width&quot;:388.08000000000004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11992125984256,&quot;left&quot;:501.12,&quot;top&quot;:187.03999999999996,&quot;width&quot;:388.08000000000004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11992125984256,&quot;left&quot;:501.12,&quot;top&quot;:187.03999999999996,&quot;width&quot;:388.08000000000004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11992125984256,&quot;left&quot;:501.12,&quot;top&quot;:187.03999999999996,&quot;width&quot;:388.08000000000004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11992125984256,&quot;left&quot;:501.12,&quot;top&quot;:187.03999999999996,&quot;width&quot;:388.08000000000004}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11992125984256,&quot;left&quot;:501.12,&quot;top&quot;:187.03999999999996,&quot;width&quot;:388.08000000000004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11992125984256,&quot;left&quot;:501.12,&quot;top&quot;:187.03999999999996,&quot;width&quot;:388.08000000000004}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11992125984256,&quot;left&quot;:501.12,&quot;top&quot;:187.03999999999996,&quot;width&quot;:388.08000000000004}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11992125984256,&quot;left&quot;:501.12,&quot;top&quot;:187.03999999999996,&quot;width&quot;:388.08000000000004}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11992125984256,&quot;left&quot;:501.12,&quot;top&quot;:187.03999999999996,&quot;width&quot;:388.0800000000000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2329</Words>
  <Application>Microsoft Office PowerPoint</Application>
  <PresentationFormat>宽屏</PresentationFormat>
  <Paragraphs>616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0" baseType="lpstr"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宗琪</dc:creator>
  <dc:description>generated using python-pptx</dc:description>
  <cp:lastModifiedBy>琪 宗</cp:lastModifiedBy>
  <cp:revision>8</cp:revision>
  <dcterms:created xsi:type="dcterms:W3CDTF">2013-01-27T09:14:00Z</dcterms:created>
  <dcterms:modified xsi:type="dcterms:W3CDTF">2026-07-06T12:09:56Z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EA21C663510A4C109BAB30248FDD2C9E_13</vt:lpwstr>
  </property>
</Properties>
</file>